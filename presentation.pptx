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(EDOARDO) — 30 sec.
Apri la presentazione. Investigazione visuale sulla stagnazione salariale italiana, costruita come articolo di giornale interattivo. Tre presentatori: io apro con motivation e data; Daniele entra con il design del progetto e inizia il walk-through del sito; Filippo chiude con il calcolatore JavaScript e le limitazioni.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(EDOARDO) — 1 min.
Apro con il dato culturale: 'in Italia gli stipendi sono fermi' è una frase che si sente ovunque nel discorso pubblico italiano - dalle cene di famiglia ai talk show. È una claim ripetuta, ma quasi mai messa a confronto con gli altri paesi europei. La nostra investigazione parte da questa domanda: è davvero vero? E se sì, quali sono i numeri? In Western Europe negli ultimi tre decenni i salari reali sono cresciuti tra il 5 e il 60 per cento. In Italia, appena il 3. La differenza è enorme. La domanda che abbiamo affrontato: perché Italia è l'eccezione, e quanto costa al singolo lavoratore? Su questo è costruito tutto il progetto.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(EDOARDO) — 1 min.
I dati: sette dataset pubblici da tre agenzie statistiche (OECD, Eurostat, ISTAT). Tutti scaricati a mano dai portali, con i filtri esatti. Nessuna API. Per ogni dataset abbiamo fatto EDA prima di decidere la forma del grafico, e in alcuni casi abbiamo cambiato l'ipotesi iniziale dopo aver visto i dati. Sette dataset = i pilastri analitici del progetto. Ora passo a Daniele per spiegare come abbiamo deciso di presentarli.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(DANIELE) — 1 min.
La scelta di design del progetto. Inizio con il principio che vale per tutto: 'an article you read, not a dashboard you query'. Articolo di giornale interattivo, non interfaccia analitica.
Da questo principio derivano tre decisioni concrete:
(1) Form follows function. Ogni grafico ha la forma scelta apposta per ciò che deve mostrare in fretta. T1 line per la traiettoria su 30 anni; T2 mappa per il confronto regionale; T3 Coxcomb (Florence Nightingale) per incrociare quota di occupazione e produttività; T4 pictogram di monete per rendere emotivamente leggibile un calo del 15%.
(2) Editorial wrapping. Ogni grafico è incorniciato dalla prosa: paragrafo di setup che pone la domanda, il grafico, paragrafo di findings che interpreta. L'articolo si legge sequenzialmente o si esplora.
(3) Cross-link T1 → T5. Cliccare un paese sul grafico macro auto-fila il calcolatore personale e scrolla la pagina. È il dato aggregato che diventa personale. Richiesto dal bando: 4+ grafici devono essere 'interactive and linked'.
Adesso passiamo al 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 3 min totali.  Daniele guida i primi 3 grafici, Filippo gli ultimi 3.
— DANIELE (Speaker 2) — 1m 30s —
Apre la demo. Naviga al sito, presenta brevemente la struttura editoriale (intro, deck, sei figure intervallate da prosa).
1. T1 (~30 sec) — line chart Italia vs peers. Hover su Italia per la storia (peak 2010, ritorno 1995). Prova un filtro Pre/Post-2008. Click su Germania per anticipare il cross-link col calcolatore.
2. T2 (~30 sec) — choropleth NUTS-2. Hover su Lombardia (-26 pp vs EA20). Hover su Bolzano (la verde, l'unica al pari). Sottolinea: 20 regioni su 21 sotto media. La piú lenta non è in Calabria, è in Umbria.
3. T3 (~30 sec) — Coxcomb nanismo. Clicca un quadrante (es. Italia) per il drill-down 360°. Filtra con i checkbox. Sottolinea: 42% workforce in micro-firms (Germania 19%) E micro italiane producono 28k vs 45k.
HANDOVER. Daniele dice 'ora Filippo continua col resto del walk-through'.
— FILIPPO (Speaker 3) — 1m 30s —
4. T4 (~30 sec) — pictogram età. Premi 'Watch the decade' per l'animazione. Sottolinea: -12.8% per gli over-50.
5. T6 (~30 sec) — coppia white/black hat. Stesso chart, stessa fonte: il numero italiano salta da 47% a 71% solo cambiando 4 leve editoriali.
6. T5 (~30 sec) — calcolatore. Sposta lo slider, cambia paese (Sweden), cambia unità (Vespe, pizze). Anticipa che la prossima slide è la mia componente JS.
Time-cap totale: 3 min secchi.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(FILIPPO) — 1 min.
Il componente JavaScript richiesto dal bando, l'ho appena fatto vedere live alla fine del demo: il calcolatore personale T5. Vanilla JavaScript con D3.js per il rendering del trajectory chart.
A SINISTRA: cosa fa. Tre input: anno di partenza (slider), paese comparatore (18 OECD europei), salario opzionale (default ISTAT). Calcola il gap reale cumulato anno per anno e lo restituisce in tre forme: numero, linea SVG, unità concrete (Vespe, pizze, mesi di affitto a Milano).
A DESTRA: il cross-link che soddisfa il requisito 'interactive and linked' del bando. Cliccare un paese sul grafico macro (T1) auto-fila il comparatore nel calcolatore via postMessage API. Il dato aggregato diventa subito personale.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(FILIPPO) — 1 min.
Chiudo con un punto e una premessa.
IL PUNTO (a sinistra): trent'anni di salari reali italiani sostanzialmente fermi. Indicizzando il 1995 a 100 (la stessa baseline della Figure 1 del sito), l'Italia nel 2024 è a 103. Spagna 105. Germania 122. Francia 127. OECD media 131. Svezia 162. È una posizione solitaria: nessun peer è sotto +5%.
LA PREMESSA (a destra): documentiamo correlazioni, non cause. Le spiegazioni che riempiono il dibattito pubblico (geopolitica post-1990, instabilità politica, COVID, shock energetico, invecchiamento demografico) sono assenti dalla nostra analisi. Non perché non contino, ma perché il nostro progetto è un'investigazione visiva, non un modello causale.
Le limitations dei dati (aggregati, finestre eterogenee, peer set ristretto, T3 snapshot 2020, sensibilità del tax wedge in T6) sono tutte documentate nel paper §6.
Grazie.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548640" y="1097280"/>
            <a:ext cx="11091672" cy="320040"/>
          </a:xfrm>
          <a:prstGeom prst="rect">
            <a:avLst/>
          </a:prstGeom>
          <a:noFill/>
          <a:ln/>
        </p:spPr>
        <p:txBody>
          <a:bodyPr wrap="square" rtlCol="0" anchor="ctr"/>
          <a:lstStyle/>
          <a:p>
            <a:pPr algn="ctr" indent="0" marL="0">
              <a:buNone/>
            </a:pPr>
            <a:r>
              <a:rPr lang="en-US" sz="1200" b="1" spc="800" kern="0" dirty="0">
                <a:solidFill>
                  <a:srgbClr val="C44536"/>
                </a:solidFill>
                <a:latin typeface="Cambria" pitchFamily="34" charset="0"/>
                <a:ea typeface="Cambria" pitchFamily="34" charset="-122"/>
                <a:cs typeface="Cambria" pitchFamily="34" charset="-120"/>
              </a:rPr>
              <a:t>AN INVESTIGATION  ·  DATA VISUALIZATIONS 2026</a:t>
            </a:r>
            <a:endParaRPr lang="en-US" sz="1200" dirty="0"/>
          </a:p>
        </p:txBody>
      </p:sp>
      <p:sp>
        <p:nvSpPr>
          <p:cNvPr id="3" name="Text 1"/>
          <p:cNvSpPr/>
          <p:nvPr/>
        </p:nvSpPr>
        <p:spPr>
          <a:xfrm>
            <a:off x="548640" y="1920240"/>
            <a:ext cx="11091672" cy="1280160"/>
          </a:xfrm>
          <a:prstGeom prst="rect">
            <a:avLst/>
          </a:prstGeom>
          <a:noFill/>
          <a:ln/>
        </p:spPr>
        <p:txBody>
          <a:bodyPr wrap="square" rtlCol="0" anchor="ctr"/>
          <a:lstStyle/>
          <a:p>
            <a:pPr algn="ctr" indent="0" marL="0">
              <a:buNone/>
            </a:pPr>
            <a:r>
              <a:rPr lang="en-US" sz="6000" b="1" dirty="0">
                <a:solidFill>
                  <a:srgbClr val="1A1A1A"/>
                </a:solidFill>
                <a:latin typeface="Cambria" pitchFamily="34" charset="0"/>
                <a:ea typeface="Cambria" pitchFamily="34" charset="-122"/>
                <a:cs typeface="Cambria" pitchFamily="34" charset="-120"/>
              </a:rPr>
              <a:t>THE ITALIAN STAGNATION</a:t>
            </a:r>
            <a:endParaRPr lang="en-US" sz="6000" dirty="0"/>
          </a:p>
        </p:txBody>
      </p:sp>
      <p:sp>
        <p:nvSpPr>
          <p:cNvPr id="4" name="Text 2"/>
          <p:cNvSpPr/>
          <p:nvPr/>
        </p:nvSpPr>
        <p:spPr>
          <a:xfrm>
            <a:off x="548640" y="3200400"/>
            <a:ext cx="11091672" cy="548640"/>
          </a:xfrm>
          <a:prstGeom prst="rect">
            <a:avLst/>
          </a:prstGeom>
          <a:noFill/>
          <a:ln/>
        </p:spPr>
        <p:txBody>
          <a:bodyPr wrap="square" rtlCol="0" anchor="ctr"/>
          <a:lstStyle/>
          <a:p>
            <a:pPr algn="ctr" indent="0" marL="0">
              <a:buNone/>
            </a:pPr>
            <a:r>
              <a:rPr lang="en-US" sz="2400" i="1" dirty="0">
                <a:solidFill>
                  <a:srgbClr val="C44536"/>
                </a:solidFill>
                <a:latin typeface="Cambria" pitchFamily="34" charset="0"/>
                <a:ea typeface="Cambria" pitchFamily="34" charset="-122"/>
                <a:cs typeface="Cambria" pitchFamily="34" charset="-120"/>
              </a:rPr>
              <a:t>A Multi-Lens Visual Investigation</a:t>
            </a:r>
            <a:endParaRPr lang="en-US" sz="2400" dirty="0"/>
          </a:p>
        </p:txBody>
      </p:sp>
      <p:sp>
        <p:nvSpPr>
          <p:cNvPr id="5" name="Text 3"/>
          <p:cNvSpPr/>
          <p:nvPr/>
        </p:nvSpPr>
        <p:spPr>
          <a:xfrm>
            <a:off x="548640" y="4754880"/>
            <a:ext cx="11091672" cy="365760"/>
          </a:xfrm>
          <a:prstGeom prst="rect">
            <a:avLst/>
          </a:prstGeom>
          <a:noFill/>
          <a:ln/>
        </p:spPr>
        <p:txBody>
          <a:bodyPr wrap="square" rtlCol="0" anchor="ctr"/>
          <a:lstStyle/>
          <a:p>
            <a:pPr algn="ctr" indent="0" marL="0">
              <a:buNone/>
            </a:pPr>
            <a:r>
              <a:rPr lang="en-US" sz="1600" dirty="0">
                <a:solidFill>
                  <a:srgbClr val="1A1A1A"/>
                </a:solidFill>
                <a:latin typeface="Cambria" pitchFamily="34" charset="0"/>
                <a:ea typeface="Cambria" pitchFamily="34" charset="-122"/>
                <a:cs typeface="Cambria" pitchFamily="34" charset="-120"/>
              </a:rPr>
              <a:t>Edoardo Riva    ·    Filippo Nannucci    ·    Daniele Giovanardi</a:t>
            </a:r>
            <a:endParaRPr lang="en-US" sz="1600" dirty="0"/>
          </a:p>
        </p:txBody>
      </p:sp>
      <p:sp>
        <p:nvSpPr>
          <p:cNvPr id="6" name="Text 4"/>
          <p:cNvSpPr/>
          <p:nvPr/>
        </p:nvSpPr>
        <p:spPr>
          <a:xfrm>
            <a:off x="548640" y="5303520"/>
            <a:ext cx="11091672" cy="365760"/>
          </a:xfrm>
          <a:prstGeom prst="rect">
            <a:avLst/>
          </a:prstGeom>
          <a:noFill/>
          <a:ln/>
        </p:spPr>
        <p:txBody>
          <a:bodyPr wrap="square" rtlCol="0" anchor="ctr"/>
          <a:lstStyle/>
          <a:p>
            <a:pPr algn="ctr" indent="0" marL="0">
              <a:buNone/>
            </a:pPr>
            <a:r>
              <a:rPr lang="en-US" sz="1300" i="1" dirty="0">
                <a:solidFill>
                  <a:srgbClr val="666666"/>
                </a:solidFill>
                <a:latin typeface="Cambria" pitchFamily="34" charset="0"/>
                <a:ea typeface="Cambria" pitchFamily="34" charset="-122"/>
                <a:cs typeface="Cambria" pitchFamily="34" charset="-120"/>
              </a:rPr>
              <a:t>LUISS Guido Carli      |      12 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457200" y="6446520"/>
            <a:ext cx="11274552" cy="274320"/>
          </a:xfrm>
          <a:prstGeom prst="rect">
            <a:avLst/>
          </a:prstGeom>
          <a:noFill/>
          <a:ln/>
        </p:spPr>
        <p:txBody>
          <a:bodyPr wrap="square" rtlCol="0" anchor="ctr"/>
          <a:lstStyle/>
          <a:p>
            <a:pPr algn="ctr" indent="0" marL="0">
              <a:buNone/>
            </a:pPr>
            <a:r>
              <a:rPr lang="en-US" sz="900" i="1" dirty="0">
                <a:solidFill>
                  <a:srgbClr val="666666"/>
                </a:solidFill>
                <a:latin typeface="Cambria" pitchFamily="34" charset="0"/>
                <a:ea typeface="Cambria" pitchFamily="34" charset="-122"/>
                <a:cs typeface="Cambria" pitchFamily="34" charset="-120"/>
              </a:rPr>
              <a:t>The Italian Stagnation</a:t>
            </a:r>
            <a:pPr algn="ctr" indent="0" marL="0">
              <a:buNone/>
            </a:pPr>
            <a:r>
              <a:rPr lang="en-US" sz="900" dirty="0">
                <a:solidFill>
                  <a:srgbClr val="666666"/>
                </a:solidFill>
                <a:latin typeface="Cambria" pitchFamily="34" charset="0"/>
                <a:ea typeface="Cambria" pitchFamily="34" charset="-122"/>
                <a:cs typeface="Cambria" pitchFamily="34" charset="-120"/>
              </a:rPr>
              <a:t>  ·  </a:t>
            </a:r>
            <a:pPr algn="ctr" indent="0" marL="0">
              <a:buNone/>
            </a:pPr>
            <a:r>
              <a:rPr lang="en-US" sz="900" dirty="0">
                <a:solidFill>
                  <a:srgbClr val="666666"/>
                </a:solidFill>
                <a:latin typeface="Cambria" pitchFamily="34" charset="0"/>
                <a:ea typeface="Cambria" pitchFamily="34" charset="-122"/>
                <a:cs typeface="Cambria" pitchFamily="34" charset="-120"/>
              </a:rPr>
              <a:t>2 / 7</a:t>
            </a:r>
            <a:endParaRPr lang="en-US" sz="900" dirty="0"/>
          </a:p>
        </p:txBody>
      </p:sp>
      <p:sp>
        <p:nvSpPr>
          <p:cNvPr id="3" name="Text 1"/>
          <p:cNvSpPr/>
          <p:nvPr/>
        </p:nvSpPr>
        <p:spPr>
          <a:xfrm>
            <a:off x="548640" y="365760"/>
            <a:ext cx="11091672" cy="731520"/>
          </a:xfrm>
          <a:prstGeom prst="rect">
            <a:avLst/>
          </a:prstGeom>
          <a:noFill/>
          <a:ln/>
        </p:spPr>
        <p:txBody>
          <a:bodyPr wrap="square" rtlCol="0" anchor="ctr"/>
          <a:lstStyle/>
          <a:p>
            <a:pPr algn="l" indent="0" marL="0">
              <a:buNone/>
            </a:pPr>
            <a:r>
              <a:rPr lang="en-US" sz="2800" b="1" dirty="0">
                <a:solidFill>
                  <a:srgbClr val="1A1A1A"/>
                </a:solidFill>
                <a:latin typeface="Cambria" pitchFamily="34" charset="0"/>
                <a:ea typeface="Cambria" pitchFamily="34" charset="-122"/>
                <a:cs typeface="Cambria" pitchFamily="34" charset="-120"/>
              </a:rPr>
              <a:t>Motivation</a:t>
            </a:r>
            <a:endParaRPr lang="en-US" sz="2800" dirty="0"/>
          </a:p>
        </p:txBody>
      </p:sp>
      <p:sp>
        <p:nvSpPr>
          <p:cNvPr id="4" name="Text 2"/>
          <p:cNvSpPr/>
          <p:nvPr/>
        </p:nvSpPr>
        <p:spPr>
          <a:xfrm>
            <a:off x="548640" y="1371600"/>
            <a:ext cx="11091672" cy="914400"/>
          </a:xfrm>
          <a:prstGeom prst="rect">
            <a:avLst/>
          </a:prstGeom>
          <a:noFill/>
          <a:ln/>
        </p:spPr>
        <p:txBody>
          <a:bodyPr wrap="square" rtlCol="0" anchor="ctr"/>
          <a:lstStyle/>
          <a:p>
            <a:pPr algn="ctr" indent="0" marL="0">
              <a:buNone/>
            </a:pPr>
            <a:r>
              <a:rPr lang="en-US" sz="4000" i="1" dirty="0">
                <a:solidFill>
                  <a:srgbClr val="C44536"/>
                </a:solidFill>
                <a:latin typeface="Cambria" pitchFamily="34" charset="0"/>
                <a:ea typeface="Cambria" pitchFamily="34" charset="-122"/>
                <a:cs typeface="Cambria" pitchFamily="34" charset="-120"/>
              </a:rPr>
              <a:t>"In Italia gli stipendi sono fermi"</a:t>
            </a:r>
            <a:endParaRPr lang="en-US" sz="4000" dirty="0"/>
          </a:p>
        </p:txBody>
      </p:sp>
      <p:sp>
        <p:nvSpPr>
          <p:cNvPr id="5" name="Text 3"/>
          <p:cNvSpPr/>
          <p:nvPr/>
        </p:nvSpPr>
        <p:spPr>
          <a:xfrm>
            <a:off x="731520" y="2377440"/>
            <a:ext cx="10725912" cy="457200"/>
          </a:xfrm>
          <a:prstGeom prst="rect">
            <a:avLst/>
          </a:prstGeom>
          <a:noFill/>
          <a:ln/>
        </p:spPr>
        <p:txBody>
          <a:bodyPr wrap="square" rtlCol="0" anchor="ctr"/>
          <a:lstStyle/>
          <a:p>
            <a:pPr algn="ctr" indent="0" marL="0">
              <a:buNone/>
            </a:pPr>
            <a:r>
              <a:rPr lang="en-US" sz="1400" i="1" dirty="0">
                <a:solidFill>
                  <a:srgbClr val="666666"/>
                </a:solidFill>
                <a:latin typeface="Cambria" pitchFamily="34" charset="0"/>
                <a:ea typeface="Cambria" pitchFamily="34" charset="-122"/>
                <a:cs typeface="Cambria" pitchFamily="34" charset="-120"/>
              </a:rPr>
              <a:t>a claim repeated everywhere in Italian discourse, almost never compared with peers.</a:t>
            </a:r>
            <a:endParaRPr lang="en-US" sz="1400" dirty="0"/>
          </a:p>
        </p:txBody>
      </p:sp>
      <p:sp>
        <p:nvSpPr>
          <p:cNvPr id="6" name="Text 4"/>
          <p:cNvSpPr/>
          <p:nvPr/>
        </p:nvSpPr>
        <p:spPr>
          <a:xfrm>
            <a:off x="548640" y="3291840"/>
            <a:ext cx="5486400" cy="365760"/>
          </a:xfrm>
          <a:prstGeom prst="rect">
            <a:avLst/>
          </a:prstGeom>
          <a:noFill/>
          <a:ln/>
        </p:spPr>
        <p:txBody>
          <a:bodyPr wrap="square" rtlCol="0" anchor="ctr"/>
          <a:lstStyle/>
          <a:p>
            <a:pPr algn="ctr" indent="0" marL="0">
              <a:buNone/>
            </a:pPr>
            <a:r>
              <a:rPr lang="en-US" sz="1300" i="1" dirty="0">
                <a:solidFill>
                  <a:srgbClr val="666666"/>
                </a:solidFill>
                <a:latin typeface="Cambria" pitchFamily="34" charset="0"/>
                <a:ea typeface="Cambria" pitchFamily="34" charset="-122"/>
                <a:cs typeface="Cambria" pitchFamily="34" charset="-120"/>
              </a:rPr>
              <a:t>Western European peers</a:t>
            </a:r>
            <a:endParaRPr lang="en-US" sz="1300" dirty="0"/>
          </a:p>
        </p:txBody>
      </p:sp>
      <p:sp>
        <p:nvSpPr>
          <p:cNvPr id="7" name="Text 5"/>
          <p:cNvSpPr/>
          <p:nvPr/>
        </p:nvSpPr>
        <p:spPr>
          <a:xfrm>
            <a:off x="548640" y="3657600"/>
            <a:ext cx="5486400" cy="822960"/>
          </a:xfrm>
          <a:prstGeom prst="rect">
            <a:avLst/>
          </a:prstGeom>
          <a:noFill/>
          <a:ln/>
        </p:spPr>
        <p:txBody>
          <a:bodyPr wrap="square" rtlCol="0" anchor="ctr"/>
          <a:lstStyle/>
          <a:p>
            <a:pPr algn="ctr" indent="0" marL="0">
              <a:buNone/>
            </a:pPr>
            <a:r>
              <a:rPr lang="en-US" sz="5000" b="1" dirty="0">
                <a:solidFill>
                  <a:srgbClr val="2C5F2D"/>
                </a:solidFill>
                <a:latin typeface="Cambria" pitchFamily="34" charset="0"/>
                <a:ea typeface="Cambria" pitchFamily="34" charset="-122"/>
                <a:cs typeface="Cambria" pitchFamily="34" charset="-120"/>
              </a:rPr>
              <a:t>+5 to +60%</a:t>
            </a:r>
            <a:endParaRPr lang="en-US" sz="5000" dirty="0"/>
          </a:p>
        </p:txBody>
      </p:sp>
      <p:sp>
        <p:nvSpPr>
          <p:cNvPr id="8" name="Text 6"/>
          <p:cNvSpPr/>
          <p:nvPr/>
        </p:nvSpPr>
        <p:spPr>
          <a:xfrm>
            <a:off x="6126480" y="3291840"/>
            <a:ext cx="5486400" cy="365760"/>
          </a:xfrm>
          <a:prstGeom prst="rect">
            <a:avLst/>
          </a:prstGeom>
          <a:noFill/>
          <a:ln/>
        </p:spPr>
        <p:txBody>
          <a:bodyPr wrap="square" rtlCol="0" anchor="ctr"/>
          <a:lstStyle/>
          <a:p>
            <a:pPr algn="ctr" indent="0" marL="0">
              <a:buNone/>
            </a:pPr>
            <a:r>
              <a:rPr lang="en-US" sz="1300" i="1" dirty="0">
                <a:solidFill>
                  <a:srgbClr val="666666"/>
                </a:solidFill>
                <a:latin typeface="Cambria" pitchFamily="34" charset="0"/>
                <a:ea typeface="Cambria" pitchFamily="34" charset="-122"/>
                <a:cs typeface="Cambria" pitchFamily="34" charset="-120"/>
              </a:rPr>
              <a:t>Italy</a:t>
            </a:r>
            <a:endParaRPr lang="en-US" sz="1300" dirty="0"/>
          </a:p>
        </p:txBody>
      </p:sp>
      <p:sp>
        <p:nvSpPr>
          <p:cNvPr id="9" name="Text 7"/>
          <p:cNvSpPr/>
          <p:nvPr/>
        </p:nvSpPr>
        <p:spPr>
          <a:xfrm>
            <a:off x="6126480" y="3657600"/>
            <a:ext cx="5486400" cy="822960"/>
          </a:xfrm>
          <a:prstGeom prst="rect">
            <a:avLst/>
          </a:prstGeom>
          <a:noFill/>
          <a:ln/>
        </p:spPr>
        <p:txBody>
          <a:bodyPr wrap="square" rtlCol="0" anchor="ctr"/>
          <a:lstStyle/>
          <a:p>
            <a:pPr algn="ctr" indent="0" marL="0">
              <a:buNone/>
            </a:pPr>
            <a:r>
              <a:rPr lang="en-US" sz="5000" b="1" dirty="0">
                <a:solidFill>
                  <a:srgbClr val="C44536"/>
                </a:solidFill>
                <a:latin typeface="Cambria" pitchFamily="34" charset="0"/>
                <a:ea typeface="Cambria" pitchFamily="34" charset="-122"/>
                <a:cs typeface="Cambria" pitchFamily="34" charset="-120"/>
              </a:rPr>
              <a:t>+3%</a:t>
            </a:r>
            <a:endParaRPr lang="en-US" sz="5000" dirty="0"/>
          </a:p>
        </p:txBody>
      </p:sp>
      <p:sp>
        <p:nvSpPr>
          <p:cNvPr id="10" name="Text 8"/>
          <p:cNvSpPr/>
          <p:nvPr/>
        </p:nvSpPr>
        <p:spPr>
          <a:xfrm>
            <a:off x="548640" y="4572000"/>
            <a:ext cx="11091672"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real-wage growth, 1995 → 2024</a:t>
            </a:r>
            <a:endParaRPr lang="en-US" sz="1200" dirty="0"/>
          </a:p>
        </p:txBody>
      </p:sp>
      <p:sp>
        <p:nvSpPr>
          <p:cNvPr id="11" name="Text 9"/>
          <p:cNvSpPr/>
          <p:nvPr/>
        </p:nvSpPr>
        <p:spPr>
          <a:xfrm>
            <a:off x="731520" y="5303520"/>
            <a:ext cx="10725912" cy="548640"/>
          </a:xfrm>
          <a:prstGeom prst="rect">
            <a:avLst/>
          </a:prstGeom>
          <a:noFill/>
          <a:ln/>
        </p:spPr>
        <p:txBody>
          <a:bodyPr wrap="square" rtlCol="0" anchor="ctr"/>
          <a:lstStyle/>
          <a:p>
            <a:pPr algn="ctr" indent="0" marL="0">
              <a:buNone/>
            </a:pPr>
            <a:r>
              <a:rPr lang="en-US" sz="2000" i="1" dirty="0">
                <a:solidFill>
                  <a:srgbClr val="1A1A1A"/>
                </a:solidFill>
                <a:latin typeface="Cambria" pitchFamily="34" charset="0"/>
                <a:ea typeface="Cambria" pitchFamily="34" charset="-122"/>
                <a:cs typeface="Cambria" pitchFamily="34" charset="-120"/>
              </a:rPr>
              <a:t>Is the claim really true?  And what does the gap cost individual workers?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457200" y="6446520"/>
            <a:ext cx="11274552" cy="274320"/>
          </a:xfrm>
          <a:prstGeom prst="rect">
            <a:avLst/>
          </a:prstGeom>
          <a:noFill/>
          <a:ln/>
        </p:spPr>
        <p:txBody>
          <a:bodyPr wrap="square" rtlCol="0" anchor="ctr"/>
          <a:lstStyle/>
          <a:p>
            <a:pPr algn="ctr" indent="0" marL="0">
              <a:buNone/>
            </a:pPr>
            <a:r>
              <a:rPr lang="en-US" sz="900" i="1" dirty="0">
                <a:solidFill>
                  <a:srgbClr val="666666"/>
                </a:solidFill>
                <a:latin typeface="Cambria" pitchFamily="34" charset="0"/>
                <a:ea typeface="Cambria" pitchFamily="34" charset="-122"/>
                <a:cs typeface="Cambria" pitchFamily="34" charset="-120"/>
              </a:rPr>
              <a:t>The Italian Stagnation</a:t>
            </a:r>
            <a:pPr algn="ctr" indent="0" marL="0">
              <a:buNone/>
            </a:pPr>
            <a:r>
              <a:rPr lang="en-US" sz="900" dirty="0">
                <a:solidFill>
                  <a:srgbClr val="666666"/>
                </a:solidFill>
                <a:latin typeface="Cambria" pitchFamily="34" charset="0"/>
                <a:ea typeface="Cambria" pitchFamily="34" charset="-122"/>
                <a:cs typeface="Cambria" pitchFamily="34" charset="-120"/>
              </a:rPr>
              <a:t>  ·  </a:t>
            </a:r>
            <a:pPr algn="ctr" indent="0" marL="0">
              <a:buNone/>
            </a:pPr>
            <a:r>
              <a:rPr lang="en-US" sz="900" dirty="0">
                <a:solidFill>
                  <a:srgbClr val="666666"/>
                </a:solidFill>
                <a:latin typeface="Cambria" pitchFamily="34" charset="0"/>
                <a:ea typeface="Cambria" pitchFamily="34" charset="-122"/>
                <a:cs typeface="Cambria" pitchFamily="34" charset="-120"/>
              </a:rPr>
              <a:t>3 / 7</a:t>
            </a:r>
            <a:endParaRPr lang="en-US" sz="900" dirty="0"/>
          </a:p>
        </p:txBody>
      </p:sp>
      <p:sp>
        <p:nvSpPr>
          <p:cNvPr id="3" name="Text 1"/>
          <p:cNvSpPr/>
          <p:nvPr/>
        </p:nvSpPr>
        <p:spPr>
          <a:xfrm>
            <a:off x="548640" y="365760"/>
            <a:ext cx="11091672" cy="731520"/>
          </a:xfrm>
          <a:prstGeom prst="rect">
            <a:avLst/>
          </a:prstGeom>
          <a:noFill/>
          <a:ln/>
        </p:spPr>
        <p:txBody>
          <a:bodyPr wrap="square" rtlCol="0" anchor="ctr"/>
          <a:lstStyle/>
          <a:p>
            <a:pPr algn="ctr" indent="0" marL="0">
              <a:buNone/>
            </a:pPr>
            <a:r>
              <a:rPr lang="en-US" sz="2800" b="1" dirty="0">
                <a:solidFill>
                  <a:srgbClr val="1A1A1A"/>
                </a:solidFill>
                <a:latin typeface="Cambria" pitchFamily="34" charset="0"/>
                <a:ea typeface="Cambria" pitchFamily="34" charset="-122"/>
                <a:cs typeface="Cambria" pitchFamily="34" charset="-120"/>
              </a:rPr>
              <a:t>Data</a:t>
            </a:r>
            <a:endParaRPr lang="en-US" sz="2800" dirty="0"/>
          </a:p>
        </p:txBody>
      </p:sp>
      <p:sp>
        <p:nvSpPr>
          <p:cNvPr id="4" name="Shape 2"/>
          <p:cNvSpPr/>
          <p:nvPr/>
        </p:nvSpPr>
        <p:spPr>
          <a:xfrm>
            <a:off x="448056" y="1417320"/>
            <a:ext cx="3520440" cy="4114800"/>
          </a:xfrm>
          <a:prstGeom prst="roundRect">
            <a:avLst>
              <a:gd name="adj" fmla="val 3117"/>
            </a:avLst>
          </a:prstGeom>
          <a:solidFill>
            <a:srgbClr val="EFE7D8"/>
          </a:solidFill>
          <a:ln/>
        </p:spPr>
      </p:sp>
      <p:sp>
        <p:nvSpPr>
          <p:cNvPr id="5" name="Text 3"/>
          <p:cNvSpPr/>
          <p:nvPr/>
        </p:nvSpPr>
        <p:spPr>
          <a:xfrm>
            <a:off x="448056" y="1645920"/>
            <a:ext cx="3520440" cy="457200"/>
          </a:xfrm>
          <a:prstGeom prst="rect">
            <a:avLst/>
          </a:prstGeom>
          <a:noFill/>
          <a:ln/>
        </p:spPr>
        <p:txBody>
          <a:bodyPr wrap="square" rtlCol="0" anchor="ctr"/>
          <a:lstStyle/>
          <a:p>
            <a:pPr algn="ctr" indent="0" marL="0">
              <a:buNone/>
            </a:pPr>
            <a:r>
              <a:rPr lang="en-US" sz="1800" b="1" spc="600" kern="0" dirty="0">
                <a:solidFill>
                  <a:srgbClr val="C44536"/>
                </a:solidFill>
                <a:latin typeface="Cambria" pitchFamily="34" charset="0"/>
                <a:ea typeface="Cambria" pitchFamily="34" charset="-122"/>
                <a:cs typeface="Cambria" pitchFamily="34" charset="-120"/>
              </a:rPr>
              <a:t>OECD</a:t>
            </a:r>
            <a:endParaRPr lang="en-US" sz="1800" dirty="0"/>
          </a:p>
        </p:txBody>
      </p:sp>
      <p:sp>
        <p:nvSpPr>
          <p:cNvPr id="6" name="Text 4"/>
          <p:cNvSpPr/>
          <p:nvPr/>
        </p:nvSpPr>
        <p:spPr>
          <a:xfrm>
            <a:off x="722376" y="23317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Average Annual Wages</a:t>
            </a:r>
            <a:endParaRPr lang="en-US" sz="1400" dirty="0"/>
          </a:p>
        </p:txBody>
      </p:sp>
      <p:sp>
        <p:nvSpPr>
          <p:cNvPr id="7" name="Text 5"/>
          <p:cNvSpPr/>
          <p:nvPr/>
        </p:nvSpPr>
        <p:spPr>
          <a:xfrm>
            <a:off x="722376" y="26974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real USD PPP, 1990–2024</a:t>
            </a:r>
            <a:endParaRPr lang="en-US" sz="1200" dirty="0"/>
          </a:p>
        </p:txBody>
      </p:sp>
      <p:sp>
        <p:nvSpPr>
          <p:cNvPr id="8" name="Text 6"/>
          <p:cNvSpPr/>
          <p:nvPr/>
        </p:nvSpPr>
        <p:spPr>
          <a:xfrm>
            <a:off x="722376" y="33985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Productivity</a:t>
            </a:r>
            <a:endParaRPr lang="en-US" sz="1400" dirty="0"/>
          </a:p>
        </p:txBody>
      </p:sp>
      <p:sp>
        <p:nvSpPr>
          <p:cNvPr id="9" name="Text 7"/>
          <p:cNvSpPr/>
          <p:nvPr/>
        </p:nvSpPr>
        <p:spPr>
          <a:xfrm>
            <a:off x="722376" y="37642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GDP per hour, 1995–2024</a:t>
            </a:r>
            <a:endParaRPr lang="en-US" sz="1200" dirty="0"/>
          </a:p>
        </p:txBody>
      </p:sp>
      <p:sp>
        <p:nvSpPr>
          <p:cNvPr id="10" name="Text 8"/>
          <p:cNvSpPr/>
          <p:nvPr/>
        </p:nvSpPr>
        <p:spPr>
          <a:xfrm>
            <a:off x="722376" y="44653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Taxing Wages</a:t>
            </a:r>
            <a:endParaRPr lang="en-US" sz="1400" dirty="0"/>
          </a:p>
        </p:txBody>
      </p:sp>
      <p:sp>
        <p:nvSpPr>
          <p:cNvPr id="11" name="Text 9"/>
          <p:cNvSpPr/>
          <p:nvPr/>
        </p:nvSpPr>
        <p:spPr>
          <a:xfrm>
            <a:off x="722376" y="48310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tax wedge, 18 countries, 2024</a:t>
            </a:r>
            <a:endParaRPr lang="en-US" sz="1200" dirty="0"/>
          </a:p>
        </p:txBody>
      </p:sp>
      <p:sp>
        <p:nvSpPr>
          <p:cNvPr id="12" name="Shape 10"/>
          <p:cNvSpPr/>
          <p:nvPr/>
        </p:nvSpPr>
        <p:spPr>
          <a:xfrm>
            <a:off x="4334256" y="1417320"/>
            <a:ext cx="3520440" cy="4114800"/>
          </a:xfrm>
          <a:prstGeom prst="roundRect">
            <a:avLst>
              <a:gd name="adj" fmla="val 3117"/>
            </a:avLst>
          </a:prstGeom>
          <a:solidFill>
            <a:srgbClr val="EFE7D8"/>
          </a:solidFill>
          <a:ln/>
        </p:spPr>
      </p:sp>
      <p:sp>
        <p:nvSpPr>
          <p:cNvPr id="13" name="Text 11"/>
          <p:cNvSpPr/>
          <p:nvPr/>
        </p:nvSpPr>
        <p:spPr>
          <a:xfrm>
            <a:off x="4334256" y="1645920"/>
            <a:ext cx="3520440" cy="457200"/>
          </a:xfrm>
          <a:prstGeom prst="rect">
            <a:avLst/>
          </a:prstGeom>
          <a:noFill/>
          <a:ln/>
        </p:spPr>
        <p:txBody>
          <a:bodyPr wrap="square" rtlCol="0" anchor="ctr"/>
          <a:lstStyle/>
          <a:p>
            <a:pPr algn="ctr" indent="0" marL="0">
              <a:buNone/>
            </a:pPr>
            <a:r>
              <a:rPr lang="en-US" sz="1800" b="1" spc="600" kern="0" dirty="0">
                <a:solidFill>
                  <a:srgbClr val="C44536"/>
                </a:solidFill>
                <a:latin typeface="Cambria" pitchFamily="34" charset="0"/>
                <a:ea typeface="Cambria" pitchFamily="34" charset="-122"/>
                <a:cs typeface="Cambria" pitchFamily="34" charset="-120"/>
              </a:rPr>
              <a:t>EUROSTAT</a:t>
            </a:r>
            <a:endParaRPr lang="en-US" sz="1800" dirty="0"/>
          </a:p>
        </p:txBody>
      </p:sp>
      <p:sp>
        <p:nvSpPr>
          <p:cNvPr id="14" name="Text 12"/>
          <p:cNvSpPr/>
          <p:nvPr/>
        </p:nvSpPr>
        <p:spPr>
          <a:xfrm>
            <a:off x="4608576" y="23317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NUTS-2 GDP per capita</a:t>
            </a:r>
            <a:endParaRPr lang="en-US" sz="1400" dirty="0"/>
          </a:p>
        </p:txBody>
      </p:sp>
      <p:sp>
        <p:nvSpPr>
          <p:cNvPr id="15" name="Text 13"/>
          <p:cNvSpPr/>
          <p:nvPr/>
        </p:nvSpPr>
        <p:spPr>
          <a:xfrm>
            <a:off x="4608576" y="26974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70 regions, 2000–2024 (EA20 baseline)</a:t>
            </a:r>
            <a:endParaRPr lang="en-US" sz="1200" dirty="0"/>
          </a:p>
        </p:txBody>
      </p:sp>
      <p:sp>
        <p:nvSpPr>
          <p:cNvPr id="16" name="Text 14"/>
          <p:cNvSpPr/>
          <p:nvPr/>
        </p:nvSpPr>
        <p:spPr>
          <a:xfrm>
            <a:off x="4608576" y="33985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SBS firm size</a:t>
            </a:r>
            <a:endParaRPr lang="en-US" sz="1400" dirty="0"/>
          </a:p>
        </p:txBody>
      </p:sp>
      <p:sp>
        <p:nvSpPr>
          <p:cNvPr id="17" name="Text 15"/>
          <p:cNvSpPr/>
          <p:nvPr/>
        </p:nvSpPr>
        <p:spPr>
          <a:xfrm>
            <a:off x="4608576" y="37642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firm size × productivity, 2020</a:t>
            </a:r>
            <a:endParaRPr lang="en-US" sz="1200" dirty="0"/>
          </a:p>
        </p:txBody>
      </p:sp>
      <p:sp>
        <p:nvSpPr>
          <p:cNvPr id="18" name="Text 16"/>
          <p:cNvSpPr/>
          <p:nvPr/>
        </p:nvSpPr>
        <p:spPr>
          <a:xfrm>
            <a:off x="4608576" y="44653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HICP Italy</a:t>
            </a:r>
            <a:endParaRPr lang="en-US" sz="1400" dirty="0"/>
          </a:p>
        </p:txBody>
      </p:sp>
      <p:sp>
        <p:nvSpPr>
          <p:cNvPr id="19" name="Text 17"/>
          <p:cNvSpPr/>
          <p:nvPr/>
        </p:nvSpPr>
        <p:spPr>
          <a:xfrm>
            <a:off x="4608576" y="48310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2014–2024 deflator</a:t>
            </a:r>
            <a:endParaRPr lang="en-US" sz="1200" dirty="0"/>
          </a:p>
        </p:txBody>
      </p:sp>
      <p:sp>
        <p:nvSpPr>
          <p:cNvPr id="20" name="Shape 18"/>
          <p:cNvSpPr/>
          <p:nvPr/>
        </p:nvSpPr>
        <p:spPr>
          <a:xfrm>
            <a:off x="8220456" y="1417320"/>
            <a:ext cx="3520440" cy="4114800"/>
          </a:xfrm>
          <a:prstGeom prst="roundRect">
            <a:avLst>
              <a:gd name="adj" fmla="val 3117"/>
            </a:avLst>
          </a:prstGeom>
          <a:solidFill>
            <a:srgbClr val="EFE7D8"/>
          </a:solidFill>
          <a:ln/>
        </p:spPr>
      </p:sp>
      <p:sp>
        <p:nvSpPr>
          <p:cNvPr id="21" name="Text 19"/>
          <p:cNvSpPr/>
          <p:nvPr/>
        </p:nvSpPr>
        <p:spPr>
          <a:xfrm>
            <a:off x="8220456" y="1645920"/>
            <a:ext cx="3520440" cy="457200"/>
          </a:xfrm>
          <a:prstGeom prst="rect">
            <a:avLst/>
          </a:prstGeom>
          <a:noFill/>
          <a:ln/>
        </p:spPr>
        <p:txBody>
          <a:bodyPr wrap="square" rtlCol="0" anchor="ctr"/>
          <a:lstStyle/>
          <a:p>
            <a:pPr algn="ctr" indent="0" marL="0">
              <a:buNone/>
            </a:pPr>
            <a:r>
              <a:rPr lang="en-US" sz="1800" b="1" spc="600" kern="0" dirty="0">
                <a:solidFill>
                  <a:srgbClr val="C44536"/>
                </a:solidFill>
                <a:latin typeface="Cambria" pitchFamily="34" charset="0"/>
                <a:ea typeface="Cambria" pitchFamily="34" charset="-122"/>
                <a:cs typeface="Cambria" pitchFamily="34" charset="-120"/>
              </a:rPr>
              <a:t>ISTAT</a:t>
            </a:r>
            <a:endParaRPr lang="en-US" sz="1800" dirty="0"/>
          </a:p>
        </p:txBody>
      </p:sp>
      <p:sp>
        <p:nvSpPr>
          <p:cNvPr id="22" name="Text 20"/>
          <p:cNvSpPr/>
          <p:nvPr/>
        </p:nvSpPr>
        <p:spPr>
          <a:xfrm>
            <a:off x="8494776" y="2331720"/>
            <a:ext cx="2971800" cy="365760"/>
          </a:xfrm>
          <a:prstGeom prst="rect">
            <a:avLst/>
          </a:prstGeom>
          <a:noFill/>
          <a:ln/>
        </p:spPr>
        <p:txBody>
          <a:bodyPr wrap="square" rtlCol="0" anchor="ctr"/>
          <a:lstStyle/>
          <a:p>
            <a:pPr algn="ctr" indent="0" marL="0">
              <a:buNone/>
            </a:pPr>
            <a:r>
              <a:rPr lang="en-US" sz="1400" b="1" dirty="0">
                <a:solidFill>
                  <a:srgbClr val="1A1A1A"/>
                </a:solidFill>
                <a:latin typeface="Cambria" pitchFamily="34" charset="0"/>
                <a:ea typeface="Cambria" pitchFamily="34" charset="-122"/>
                <a:cs typeface="Cambria" pitchFamily="34" charset="-120"/>
              </a:rPr>
              <a:t>RACLI</a:t>
            </a:r>
            <a:endParaRPr lang="en-US" sz="1400" dirty="0"/>
          </a:p>
        </p:txBody>
      </p:sp>
      <p:sp>
        <p:nvSpPr>
          <p:cNvPr id="23" name="Text 21"/>
          <p:cNvSpPr/>
          <p:nvPr/>
        </p:nvSpPr>
        <p:spPr>
          <a:xfrm>
            <a:off x="8494776" y="2697480"/>
            <a:ext cx="2971800" cy="36576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median wage by age band, 2014–2023</a:t>
            </a:r>
            <a:endParaRPr lang="en-US" sz="1200" dirty="0"/>
          </a:p>
        </p:txBody>
      </p:sp>
      <p:sp>
        <p:nvSpPr>
          <p:cNvPr id="24" name="Text 22"/>
          <p:cNvSpPr/>
          <p:nvPr/>
        </p:nvSpPr>
        <p:spPr>
          <a:xfrm>
            <a:off x="914400" y="5760720"/>
            <a:ext cx="10360152" cy="548640"/>
          </a:xfrm>
          <a:prstGeom prst="rect">
            <a:avLst/>
          </a:prstGeom>
          <a:noFill/>
          <a:ln/>
        </p:spPr>
        <p:txBody>
          <a:bodyPr wrap="square" rtlCol="0" anchor="ctr"/>
          <a:lstStyle/>
          <a:p>
            <a:pPr algn="ctr" indent="0" marL="0">
              <a:buNone/>
            </a:pPr>
            <a:r>
              <a:rPr lang="en-US" sz="1200" i="1" dirty="0">
                <a:solidFill>
                  <a:srgbClr val="666666"/>
                </a:solidFill>
                <a:latin typeface="Cambria" pitchFamily="34" charset="0"/>
                <a:ea typeface="Cambria" pitchFamily="34" charset="-122"/>
                <a:cs typeface="Cambria" pitchFamily="34" charset="-120"/>
              </a:rPr>
              <a:t>Seven public datasets, three statistical agencies.  All retrieved by hand from the providers' browser portals with explicit filter selections.  EDA done on every dataset before committing to a chart form.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457200" y="6446520"/>
            <a:ext cx="11274552" cy="274320"/>
          </a:xfrm>
          <a:prstGeom prst="rect">
            <a:avLst/>
          </a:prstGeom>
          <a:noFill/>
          <a:ln/>
        </p:spPr>
        <p:txBody>
          <a:bodyPr wrap="square" rtlCol="0" anchor="ctr"/>
          <a:lstStyle/>
          <a:p>
            <a:pPr algn="ctr" indent="0" marL="0">
              <a:buNone/>
            </a:pPr>
            <a:r>
              <a:rPr lang="en-US" sz="900" i="1" dirty="0">
                <a:solidFill>
                  <a:srgbClr val="666666"/>
                </a:solidFill>
                <a:latin typeface="Cambria" pitchFamily="34" charset="0"/>
                <a:ea typeface="Cambria" pitchFamily="34" charset="-122"/>
                <a:cs typeface="Cambria" pitchFamily="34" charset="-120"/>
              </a:rPr>
              <a:t>The Italian Stagnation</a:t>
            </a:r>
            <a:pPr algn="ctr" indent="0" marL="0">
              <a:buNone/>
            </a:pPr>
            <a:r>
              <a:rPr lang="en-US" sz="900" dirty="0">
                <a:solidFill>
                  <a:srgbClr val="666666"/>
                </a:solidFill>
                <a:latin typeface="Cambria" pitchFamily="34" charset="0"/>
                <a:ea typeface="Cambria" pitchFamily="34" charset="-122"/>
                <a:cs typeface="Cambria" pitchFamily="34" charset="-120"/>
              </a:rPr>
              <a:t>  ·  </a:t>
            </a:r>
            <a:pPr algn="ctr" indent="0" marL="0">
              <a:buNone/>
            </a:pPr>
            <a:r>
              <a:rPr lang="en-US" sz="900" dirty="0">
                <a:solidFill>
                  <a:srgbClr val="666666"/>
                </a:solidFill>
                <a:latin typeface="Cambria" pitchFamily="34" charset="0"/>
                <a:ea typeface="Cambria" pitchFamily="34" charset="-122"/>
                <a:cs typeface="Cambria" pitchFamily="34" charset="-120"/>
              </a:rPr>
              <a:t>4 / 7</a:t>
            </a:r>
            <a:endParaRPr lang="en-US" sz="900" dirty="0"/>
          </a:p>
        </p:txBody>
      </p:sp>
      <p:sp>
        <p:nvSpPr>
          <p:cNvPr id="3" name="Text 1"/>
          <p:cNvSpPr/>
          <p:nvPr/>
        </p:nvSpPr>
        <p:spPr>
          <a:xfrm>
            <a:off x="548640" y="365760"/>
            <a:ext cx="11091672" cy="731520"/>
          </a:xfrm>
          <a:prstGeom prst="rect">
            <a:avLst/>
          </a:prstGeom>
          <a:noFill/>
          <a:ln/>
        </p:spPr>
        <p:txBody>
          <a:bodyPr wrap="square" rtlCol="0" anchor="ctr"/>
          <a:lstStyle/>
          <a:p>
            <a:pPr algn="ctr" indent="0" marL="0">
              <a:buNone/>
            </a:pPr>
            <a:r>
              <a:rPr lang="en-US" sz="2800" b="1" dirty="0">
                <a:solidFill>
                  <a:srgbClr val="1A1A1A"/>
                </a:solidFill>
                <a:latin typeface="Cambria" pitchFamily="34" charset="0"/>
                <a:ea typeface="Cambria" pitchFamily="34" charset="-122"/>
                <a:cs typeface="Cambria" pitchFamily="34" charset="-120"/>
              </a:rPr>
              <a:t>Design logic</a:t>
            </a:r>
            <a:endParaRPr lang="en-US" sz="2800" dirty="0"/>
          </a:p>
        </p:txBody>
      </p:sp>
      <p:sp>
        <p:nvSpPr>
          <p:cNvPr id="4" name="Text 2"/>
          <p:cNvSpPr/>
          <p:nvPr/>
        </p:nvSpPr>
        <p:spPr>
          <a:xfrm>
            <a:off x="548640" y="1280160"/>
            <a:ext cx="11091672" cy="640080"/>
          </a:xfrm>
          <a:prstGeom prst="rect">
            <a:avLst/>
          </a:prstGeom>
          <a:noFill/>
          <a:ln/>
        </p:spPr>
        <p:txBody>
          <a:bodyPr wrap="square" rtlCol="0" anchor="ctr"/>
          <a:lstStyle/>
          <a:p>
            <a:pPr algn="ctr" indent="0" marL="0">
              <a:buNone/>
            </a:pPr>
            <a:r>
              <a:rPr lang="en-US" sz="2200" i="1" dirty="0">
                <a:solidFill>
                  <a:srgbClr val="1A1A1A"/>
                </a:solidFill>
                <a:latin typeface="Cambria" pitchFamily="34" charset="0"/>
                <a:ea typeface="Cambria" pitchFamily="34" charset="-122"/>
                <a:cs typeface="Cambria" pitchFamily="34" charset="-120"/>
              </a:rPr>
              <a:t>An article you read, not a dashboard you query.</a:t>
            </a:r>
            <a:endParaRPr lang="en-US" sz="2200" dirty="0"/>
          </a:p>
        </p:txBody>
      </p:sp>
      <p:sp>
        <p:nvSpPr>
          <p:cNvPr id="5" name="Shape 3"/>
          <p:cNvSpPr/>
          <p:nvPr/>
        </p:nvSpPr>
        <p:spPr>
          <a:xfrm>
            <a:off x="448056" y="2194560"/>
            <a:ext cx="3520440" cy="3657600"/>
          </a:xfrm>
          <a:prstGeom prst="roundRect">
            <a:avLst>
              <a:gd name="adj" fmla="val 3117"/>
            </a:avLst>
          </a:prstGeom>
          <a:solidFill>
            <a:srgbClr val="EFE7D8"/>
          </a:solidFill>
          <a:ln/>
        </p:spPr>
      </p:sp>
      <p:sp>
        <p:nvSpPr>
          <p:cNvPr id="6" name="Text 4"/>
          <p:cNvSpPr/>
          <p:nvPr/>
        </p:nvSpPr>
        <p:spPr>
          <a:xfrm>
            <a:off x="630936" y="2423160"/>
            <a:ext cx="3154680" cy="365760"/>
          </a:xfrm>
          <a:prstGeom prst="rect">
            <a:avLst/>
          </a:prstGeom>
          <a:noFill/>
          <a:ln/>
        </p:spPr>
        <p:txBody>
          <a:bodyPr wrap="square" rtlCol="0" anchor="ctr"/>
          <a:lstStyle/>
          <a:p>
            <a:pPr algn="ctr" indent="0" marL="0">
              <a:buNone/>
            </a:pPr>
            <a:r>
              <a:rPr lang="en-US" sz="1100" b="1" spc="400" kern="0" dirty="0">
                <a:solidFill>
                  <a:srgbClr val="C44536"/>
                </a:solidFill>
                <a:latin typeface="Cambria" pitchFamily="34" charset="0"/>
                <a:ea typeface="Cambria" pitchFamily="34" charset="-122"/>
                <a:cs typeface="Cambria" pitchFamily="34" charset="-120"/>
              </a:rPr>
              <a:t>FORM FOLLOWS FUNCTION</a:t>
            </a:r>
            <a:endParaRPr lang="en-US" sz="1100" dirty="0"/>
          </a:p>
        </p:txBody>
      </p:sp>
      <p:sp>
        <p:nvSpPr>
          <p:cNvPr id="7" name="Text 5"/>
          <p:cNvSpPr/>
          <p:nvPr/>
        </p:nvSpPr>
        <p:spPr>
          <a:xfrm>
            <a:off x="722376" y="2880360"/>
            <a:ext cx="2971800" cy="640080"/>
          </a:xfrm>
          <a:prstGeom prst="rect">
            <a:avLst/>
          </a:prstGeom>
          <a:noFill/>
          <a:ln/>
        </p:spPr>
        <p:txBody>
          <a:bodyPr wrap="square" rtlCol="0" anchor="t"/>
          <a:lstStyle/>
          <a:p>
            <a:pPr algn="ctr" indent="0" marL="0">
              <a:buNone/>
            </a:pPr>
            <a:r>
              <a:rPr lang="en-US" sz="1600" b="1" dirty="0">
                <a:solidFill>
                  <a:srgbClr val="1A1A1A"/>
                </a:solidFill>
                <a:latin typeface="Cambria" pitchFamily="34" charset="0"/>
                <a:ea typeface="Cambria" pitchFamily="34" charset="-122"/>
                <a:cs typeface="Cambria" pitchFamily="34" charset="-120"/>
              </a:rPr>
              <a:t>Six charts, six different forms.</a:t>
            </a:r>
            <a:endParaRPr lang="en-US" sz="1600" dirty="0"/>
          </a:p>
        </p:txBody>
      </p:sp>
      <p:sp>
        <p:nvSpPr>
          <p:cNvPr id="8" name="Text 6"/>
          <p:cNvSpPr/>
          <p:nvPr/>
        </p:nvSpPr>
        <p:spPr>
          <a:xfrm>
            <a:off x="722376" y="3657600"/>
            <a:ext cx="2971800" cy="2011680"/>
          </a:xfrm>
          <a:prstGeom prst="rect">
            <a:avLst/>
          </a:prstGeom>
          <a:noFill/>
          <a:ln/>
        </p:spPr>
        <p:txBody>
          <a:bodyPr wrap="square"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Each form chosen for what it reveals fastest.</a:t>
            </a:r>
            <a:endParaRPr lang="en-US" sz="1200" dirty="0"/>
          </a:p>
        </p:txBody>
      </p:sp>
      <p:sp>
        <p:nvSpPr>
          <p:cNvPr id="9" name="Shape 7"/>
          <p:cNvSpPr/>
          <p:nvPr/>
        </p:nvSpPr>
        <p:spPr>
          <a:xfrm>
            <a:off x="4334256" y="2194560"/>
            <a:ext cx="3520440" cy="3657600"/>
          </a:xfrm>
          <a:prstGeom prst="roundRect">
            <a:avLst>
              <a:gd name="adj" fmla="val 3117"/>
            </a:avLst>
          </a:prstGeom>
          <a:solidFill>
            <a:srgbClr val="EFE7D8"/>
          </a:solidFill>
          <a:ln/>
        </p:spPr>
      </p:sp>
      <p:sp>
        <p:nvSpPr>
          <p:cNvPr id="10" name="Text 8"/>
          <p:cNvSpPr/>
          <p:nvPr/>
        </p:nvSpPr>
        <p:spPr>
          <a:xfrm>
            <a:off x="4517136" y="2423160"/>
            <a:ext cx="3154680" cy="365760"/>
          </a:xfrm>
          <a:prstGeom prst="rect">
            <a:avLst/>
          </a:prstGeom>
          <a:noFill/>
          <a:ln/>
        </p:spPr>
        <p:txBody>
          <a:bodyPr wrap="square" rtlCol="0" anchor="ctr"/>
          <a:lstStyle/>
          <a:p>
            <a:pPr algn="ctr" indent="0" marL="0">
              <a:buNone/>
            </a:pPr>
            <a:r>
              <a:rPr lang="en-US" sz="1100" b="1" spc="400" kern="0" dirty="0">
                <a:solidFill>
                  <a:srgbClr val="C44536"/>
                </a:solidFill>
                <a:latin typeface="Cambria" pitchFamily="34" charset="0"/>
                <a:ea typeface="Cambria" pitchFamily="34" charset="-122"/>
                <a:cs typeface="Cambria" pitchFamily="34" charset="-120"/>
              </a:rPr>
              <a:t>EDITORIAL WRAPPING</a:t>
            </a:r>
            <a:endParaRPr lang="en-US" sz="1100" dirty="0"/>
          </a:p>
        </p:txBody>
      </p:sp>
      <p:sp>
        <p:nvSpPr>
          <p:cNvPr id="11" name="Text 9"/>
          <p:cNvSpPr/>
          <p:nvPr/>
        </p:nvSpPr>
        <p:spPr>
          <a:xfrm>
            <a:off x="4608576" y="2880360"/>
            <a:ext cx="2971800" cy="640080"/>
          </a:xfrm>
          <a:prstGeom prst="rect">
            <a:avLst/>
          </a:prstGeom>
          <a:noFill/>
          <a:ln/>
        </p:spPr>
        <p:txBody>
          <a:bodyPr wrap="square" rtlCol="0" anchor="t"/>
          <a:lstStyle/>
          <a:p>
            <a:pPr algn="ctr" indent="0" marL="0">
              <a:buNone/>
            </a:pPr>
            <a:r>
              <a:rPr lang="en-US" sz="1600" b="1" dirty="0">
                <a:solidFill>
                  <a:srgbClr val="1A1A1A"/>
                </a:solidFill>
                <a:latin typeface="Cambria" pitchFamily="34" charset="0"/>
                <a:ea typeface="Cambria" pitchFamily="34" charset="-122"/>
                <a:cs typeface="Cambria" pitchFamily="34" charset="-120"/>
              </a:rPr>
              <a:t>Every chart wrapped in prose.</a:t>
            </a:r>
            <a:endParaRPr lang="en-US" sz="1600" dirty="0"/>
          </a:p>
        </p:txBody>
      </p:sp>
      <p:sp>
        <p:nvSpPr>
          <p:cNvPr id="12" name="Text 10"/>
          <p:cNvSpPr/>
          <p:nvPr/>
        </p:nvSpPr>
        <p:spPr>
          <a:xfrm>
            <a:off x="4608576" y="3657600"/>
            <a:ext cx="2971800" cy="2011680"/>
          </a:xfrm>
          <a:prstGeom prst="rect">
            <a:avLst/>
          </a:prstGeom>
          <a:noFill/>
          <a:ln/>
        </p:spPr>
        <p:txBody>
          <a:bodyPr wrap="square"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Setup paragraph → chart → findings paragraph.</a:t>
            </a:r>
            <a:endParaRPr lang="en-US" sz="1200" dirty="0"/>
          </a:p>
        </p:txBody>
      </p:sp>
      <p:sp>
        <p:nvSpPr>
          <p:cNvPr id="13" name="Shape 11"/>
          <p:cNvSpPr/>
          <p:nvPr/>
        </p:nvSpPr>
        <p:spPr>
          <a:xfrm>
            <a:off x="8220456" y="2194560"/>
            <a:ext cx="3520440" cy="3657600"/>
          </a:xfrm>
          <a:prstGeom prst="roundRect">
            <a:avLst>
              <a:gd name="adj" fmla="val 3117"/>
            </a:avLst>
          </a:prstGeom>
          <a:solidFill>
            <a:srgbClr val="EFE7D8"/>
          </a:solidFill>
          <a:ln/>
        </p:spPr>
      </p:sp>
      <p:sp>
        <p:nvSpPr>
          <p:cNvPr id="14" name="Text 12"/>
          <p:cNvSpPr/>
          <p:nvPr/>
        </p:nvSpPr>
        <p:spPr>
          <a:xfrm>
            <a:off x="8403336" y="2423160"/>
            <a:ext cx="3154680" cy="365760"/>
          </a:xfrm>
          <a:prstGeom prst="rect">
            <a:avLst/>
          </a:prstGeom>
          <a:noFill/>
          <a:ln/>
        </p:spPr>
        <p:txBody>
          <a:bodyPr wrap="square" rtlCol="0" anchor="ctr"/>
          <a:lstStyle/>
          <a:p>
            <a:pPr algn="ctr" indent="0" marL="0">
              <a:buNone/>
            </a:pPr>
            <a:r>
              <a:rPr lang="en-US" sz="1100" b="1" spc="400" kern="0" dirty="0">
                <a:solidFill>
                  <a:srgbClr val="C44536"/>
                </a:solidFill>
                <a:latin typeface="Cambria" pitchFamily="34" charset="0"/>
                <a:ea typeface="Cambria" pitchFamily="34" charset="-122"/>
                <a:cs typeface="Cambria" pitchFamily="34" charset="-120"/>
              </a:rPr>
              <a:t>CROSS-LINK FOR PAYOFF</a:t>
            </a:r>
            <a:endParaRPr lang="en-US" sz="1100" dirty="0"/>
          </a:p>
        </p:txBody>
      </p:sp>
      <p:sp>
        <p:nvSpPr>
          <p:cNvPr id="15" name="Text 13"/>
          <p:cNvSpPr/>
          <p:nvPr/>
        </p:nvSpPr>
        <p:spPr>
          <a:xfrm>
            <a:off x="8494776" y="2880360"/>
            <a:ext cx="2971800" cy="640080"/>
          </a:xfrm>
          <a:prstGeom prst="rect">
            <a:avLst/>
          </a:prstGeom>
          <a:noFill/>
          <a:ln/>
        </p:spPr>
        <p:txBody>
          <a:bodyPr wrap="square" rtlCol="0" anchor="t"/>
          <a:lstStyle/>
          <a:p>
            <a:pPr algn="ctr" indent="0" marL="0">
              <a:buNone/>
            </a:pPr>
            <a:r>
              <a:rPr lang="en-US" sz="1600" b="1" dirty="0">
                <a:solidFill>
                  <a:srgbClr val="1A1A1A"/>
                </a:solidFill>
                <a:latin typeface="Cambria" pitchFamily="34" charset="0"/>
                <a:ea typeface="Cambria" pitchFamily="34" charset="-122"/>
                <a:cs typeface="Cambria" pitchFamily="34" charset="-120"/>
              </a:rPr>
              <a:t>From aggregate to personal.</a:t>
            </a:r>
            <a:endParaRPr lang="en-US" sz="1600" dirty="0"/>
          </a:p>
        </p:txBody>
      </p:sp>
      <p:sp>
        <p:nvSpPr>
          <p:cNvPr id="16" name="Text 14"/>
          <p:cNvSpPr/>
          <p:nvPr/>
        </p:nvSpPr>
        <p:spPr>
          <a:xfrm>
            <a:off x="8494776" y="3657600"/>
            <a:ext cx="2971800" cy="2011680"/>
          </a:xfrm>
          <a:prstGeom prst="rect">
            <a:avLst/>
          </a:prstGeom>
          <a:noFill/>
          <a:ln/>
        </p:spPr>
        <p:txBody>
          <a:bodyPr wrap="square"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Click a country in T1 → T5 calculator auto-fills.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457200" y="6446520"/>
            <a:ext cx="11274552" cy="274320"/>
          </a:xfrm>
          <a:prstGeom prst="rect">
            <a:avLst/>
          </a:prstGeom>
          <a:noFill/>
          <a:ln/>
        </p:spPr>
        <p:txBody>
          <a:bodyPr wrap="square" rtlCol="0" anchor="ctr"/>
          <a:lstStyle/>
          <a:p>
            <a:pPr algn="ctr" indent="0" marL="0">
              <a:buNone/>
            </a:pPr>
            <a:r>
              <a:rPr lang="en-US" sz="900" i="1" dirty="0">
                <a:solidFill>
                  <a:srgbClr val="666666"/>
                </a:solidFill>
                <a:latin typeface="Cambria" pitchFamily="34" charset="0"/>
                <a:ea typeface="Cambria" pitchFamily="34" charset="-122"/>
                <a:cs typeface="Cambria" pitchFamily="34" charset="-120"/>
              </a:rPr>
              <a:t>The Italian Stagnation</a:t>
            </a:r>
            <a:pPr algn="ctr" indent="0" marL="0">
              <a:buNone/>
            </a:pPr>
            <a:r>
              <a:rPr lang="en-US" sz="900" dirty="0">
                <a:solidFill>
                  <a:srgbClr val="666666"/>
                </a:solidFill>
                <a:latin typeface="Cambria" pitchFamily="34" charset="0"/>
                <a:ea typeface="Cambria" pitchFamily="34" charset="-122"/>
                <a:cs typeface="Cambria" pitchFamily="34" charset="-120"/>
              </a:rPr>
              <a:t>  ·  </a:t>
            </a:r>
            <a:pPr algn="ctr" indent="0" marL="0">
              <a:buNone/>
            </a:pPr>
            <a:r>
              <a:rPr lang="en-US" sz="900" dirty="0">
                <a:solidFill>
                  <a:srgbClr val="666666"/>
                </a:solidFill>
                <a:latin typeface="Cambria" pitchFamily="34" charset="0"/>
                <a:ea typeface="Cambria" pitchFamily="34" charset="-122"/>
                <a:cs typeface="Cambria" pitchFamily="34" charset="-120"/>
              </a:rPr>
              <a:t>5 / 7</a:t>
            </a:r>
            <a:endParaRPr lang="en-US" sz="900" dirty="0"/>
          </a:p>
        </p:txBody>
      </p:sp>
      <p:sp>
        <p:nvSpPr>
          <p:cNvPr id="3" name="Text 1"/>
          <p:cNvSpPr/>
          <p:nvPr/>
        </p:nvSpPr>
        <p:spPr>
          <a:xfrm>
            <a:off x="548640" y="1463040"/>
            <a:ext cx="11091672" cy="914400"/>
          </a:xfrm>
          <a:prstGeom prst="rect">
            <a:avLst/>
          </a:prstGeom>
          <a:noFill/>
          <a:ln/>
        </p:spPr>
        <p:txBody>
          <a:bodyPr wrap="square" rtlCol="0" anchor="ctr"/>
          <a:lstStyle/>
          <a:p>
            <a:pPr algn="ctr" indent="0" marL="0">
              <a:buNone/>
            </a:pPr>
            <a:r>
              <a:rPr lang="en-US" sz="3600" b="1" dirty="0">
                <a:solidFill>
                  <a:srgbClr val="1A1A1A"/>
                </a:solidFill>
                <a:latin typeface="Cambria" pitchFamily="34" charset="0"/>
                <a:ea typeface="Cambria" pitchFamily="34" charset="-122"/>
                <a:cs typeface="Cambria" pitchFamily="34" charset="-120"/>
              </a:rPr>
              <a:t>The site</a:t>
            </a:r>
            <a:endParaRPr lang="en-US" sz="3600" dirty="0"/>
          </a:p>
        </p:txBody>
      </p:sp>
      <p:sp>
        <p:nvSpPr>
          <p:cNvPr id="4" name="Text 2"/>
          <p:cNvSpPr/>
          <p:nvPr/>
        </p:nvSpPr>
        <p:spPr>
          <a:xfrm>
            <a:off x="548640" y="2743200"/>
            <a:ext cx="11091672" cy="457200"/>
          </a:xfrm>
          <a:prstGeom prst="rect">
            <a:avLst/>
          </a:prstGeom>
          <a:noFill/>
          <a:ln/>
        </p:spPr>
        <p:txBody>
          <a:bodyPr wrap="square" rtlCol="0" anchor="ctr"/>
          <a:lstStyle/>
          <a:p>
            <a:pPr algn="ctr" indent="0" marL="0">
              <a:buNone/>
            </a:pPr>
            <a:r>
              <a:rPr lang="en-US" sz="1400" b="1" spc="1000" kern="0" dirty="0">
                <a:solidFill>
                  <a:srgbClr val="C44536"/>
                </a:solidFill>
                <a:latin typeface="Cambria" pitchFamily="34" charset="0"/>
                <a:ea typeface="Cambria" pitchFamily="34" charset="-122"/>
                <a:cs typeface="Cambria" pitchFamily="34" charset="-120"/>
              </a:rPr>
              <a:t>LIVE</a:t>
            </a:r>
            <a:endParaRPr lang="en-US" sz="1400" dirty="0"/>
          </a:p>
        </p:txBody>
      </p:sp>
      <p:sp>
        <p:nvSpPr>
          <p:cNvPr id="5" name="Text 3"/>
          <p:cNvSpPr/>
          <p:nvPr/>
        </p:nvSpPr>
        <p:spPr>
          <a:xfrm>
            <a:off x="548640" y="3291840"/>
            <a:ext cx="11091672" cy="731520"/>
          </a:xfrm>
          <a:prstGeom prst="rect">
            <a:avLst/>
          </a:prstGeom>
          <a:noFill/>
          <a:ln/>
        </p:spPr>
        <p:txBody>
          <a:bodyPr wrap="square" rtlCol="0" anchor="ctr"/>
          <a:lstStyle/>
          <a:p>
            <a:pPr algn="ctr" indent="0" marL="0">
              <a:buNone/>
            </a:pPr>
            <a:r>
              <a:rPr lang="en-US" sz="2600" b="1" dirty="0">
                <a:solidFill>
                  <a:srgbClr val="1A1A1A"/>
                </a:solidFill>
                <a:latin typeface="Calibri" pitchFamily="34" charset="0"/>
                <a:ea typeface="Calibri" pitchFamily="34" charset="-122"/>
                <a:cs typeface="Calibri" pitchFamily="34" charset="-120"/>
              </a:rPr>
              <a:t>filipponannucci.github.io/Data-visualization-project/</a:t>
            </a:r>
            <a:endParaRPr lang="en-US" sz="2600" dirty="0"/>
          </a:p>
        </p:txBody>
      </p:sp>
      <p:sp>
        <p:nvSpPr>
          <p:cNvPr id="6" name="Text 4"/>
          <p:cNvSpPr/>
          <p:nvPr/>
        </p:nvSpPr>
        <p:spPr>
          <a:xfrm>
            <a:off x="548640" y="5486400"/>
            <a:ext cx="11091672" cy="457200"/>
          </a:xfrm>
          <a:prstGeom prst="rect">
            <a:avLst/>
          </a:prstGeom>
          <a:noFill/>
          <a:ln/>
        </p:spPr>
        <p:txBody>
          <a:bodyPr wrap="square" rtlCol="0" anchor="ctr"/>
          <a:lstStyle/>
          <a:p>
            <a:pPr algn="ctr" indent="0" marL="0">
              <a:buNone/>
            </a:pPr>
            <a:r>
              <a:rPr lang="en-US" sz="2000" b="1" i="1" dirty="0">
                <a:solidFill>
                  <a:srgbClr val="C44536"/>
                </a:solidFill>
                <a:latin typeface="Cambria" pitchFamily="34" charset="0"/>
                <a:ea typeface="Cambria" pitchFamily="34" charset="-122"/>
                <a:cs typeface="Cambria" pitchFamily="34" charset="-120"/>
              </a:rPr>
              <a:t>Switch to browser</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457200" y="6446520"/>
            <a:ext cx="11274552" cy="274320"/>
          </a:xfrm>
          <a:prstGeom prst="rect">
            <a:avLst/>
          </a:prstGeom>
          <a:noFill/>
          <a:ln/>
        </p:spPr>
        <p:txBody>
          <a:bodyPr wrap="square" rtlCol="0" anchor="ctr"/>
          <a:lstStyle/>
          <a:p>
            <a:pPr algn="ctr" indent="0" marL="0">
              <a:buNone/>
            </a:pPr>
            <a:r>
              <a:rPr lang="en-US" sz="900" i="1" dirty="0">
                <a:solidFill>
                  <a:srgbClr val="666666"/>
                </a:solidFill>
                <a:latin typeface="Cambria" pitchFamily="34" charset="0"/>
                <a:ea typeface="Cambria" pitchFamily="34" charset="-122"/>
                <a:cs typeface="Cambria" pitchFamily="34" charset="-120"/>
              </a:rPr>
              <a:t>The Italian Stagnation</a:t>
            </a:r>
            <a:pPr algn="ctr" indent="0" marL="0">
              <a:buNone/>
            </a:pPr>
            <a:r>
              <a:rPr lang="en-US" sz="900" dirty="0">
                <a:solidFill>
                  <a:srgbClr val="666666"/>
                </a:solidFill>
                <a:latin typeface="Cambria" pitchFamily="34" charset="0"/>
                <a:ea typeface="Cambria" pitchFamily="34" charset="-122"/>
                <a:cs typeface="Cambria" pitchFamily="34" charset="-120"/>
              </a:rPr>
              <a:t>  ·  </a:t>
            </a:r>
            <a:pPr algn="ctr" indent="0" marL="0">
              <a:buNone/>
            </a:pPr>
            <a:r>
              <a:rPr lang="en-US" sz="900" dirty="0">
                <a:solidFill>
                  <a:srgbClr val="666666"/>
                </a:solidFill>
                <a:latin typeface="Cambria" pitchFamily="34" charset="0"/>
                <a:ea typeface="Cambria" pitchFamily="34" charset="-122"/>
                <a:cs typeface="Cambria" pitchFamily="34" charset="-120"/>
              </a:rPr>
              <a:t>6 / 7</a:t>
            </a:r>
            <a:endParaRPr lang="en-US" sz="900" dirty="0"/>
          </a:p>
        </p:txBody>
      </p:sp>
      <p:sp>
        <p:nvSpPr>
          <p:cNvPr id="3" name="Text 1"/>
          <p:cNvSpPr/>
          <p:nvPr/>
        </p:nvSpPr>
        <p:spPr>
          <a:xfrm>
            <a:off x="548640" y="365760"/>
            <a:ext cx="11091672" cy="731520"/>
          </a:xfrm>
          <a:prstGeom prst="rect">
            <a:avLst/>
          </a:prstGeom>
          <a:noFill/>
          <a:ln/>
        </p:spPr>
        <p:txBody>
          <a:bodyPr wrap="square" rtlCol="0" anchor="ctr"/>
          <a:lstStyle/>
          <a:p>
            <a:pPr algn="ctr" indent="0" marL="0">
              <a:buNone/>
            </a:pPr>
            <a:r>
              <a:rPr lang="en-US" sz="2800" b="1" dirty="0">
                <a:solidFill>
                  <a:srgbClr val="1A1A1A"/>
                </a:solidFill>
                <a:latin typeface="Cambria" pitchFamily="34" charset="0"/>
                <a:ea typeface="Cambria" pitchFamily="34" charset="-122"/>
                <a:cs typeface="Cambria" pitchFamily="34" charset="-120"/>
              </a:rPr>
              <a:t>JavaScript component</a:t>
            </a:r>
            <a:endParaRPr lang="en-US" sz="2800" dirty="0"/>
          </a:p>
        </p:txBody>
      </p:sp>
      <p:sp>
        <p:nvSpPr>
          <p:cNvPr id="4" name="Text 2"/>
          <p:cNvSpPr/>
          <p:nvPr/>
        </p:nvSpPr>
        <p:spPr>
          <a:xfrm>
            <a:off x="548640" y="1280160"/>
            <a:ext cx="11091672" cy="548640"/>
          </a:xfrm>
          <a:prstGeom prst="rect">
            <a:avLst/>
          </a:prstGeom>
          <a:noFill/>
          <a:ln/>
        </p:spPr>
        <p:txBody>
          <a:bodyPr wrap="square" rtlCol="0" anchor="ctr"/>
          <a:lstStyle/>
          <a:p>
            <a:pPr algn="ctr" indent="0" marL="0">
              <a:buNone/>
            </a:pPr>
            <a:r>
              <a:rPr lang="en-US" sz="2000" i="1" dirty="0">
                <a:solidFill>
                  <a:srgbClr val="666666"/>
                </a:solidFill>
                <a:latin typeface="Cambria" pitchFamily="34" charset="0"/>
                <a:ea typeface="Cambria" pitchFamily="34" charset="-122"/>
                <a:cs typeface="Cambria" pitchFamily="34" charset="-120"/>
              </a:rPr>
              <a:t>T5  ·  the personal calculator</a:t>
            </a:r>
            <a:endParaRPr lang="en-US" sz="2000" dirty="0"/>
          </a:p>
        </p:txBody>
      </p:sp>
      <p:sp>
        <p:nvSpPr>
          <p:cNvPr id="5" name="Shape 3"/>
          <p:cNvSpPr/>
          <p:nvPr/>
        </p:nvSpPr>
        <p:spPr>
          <a:xfrm>
            <a:off x="699516" y="2194560"/>
            <a:ext cx="5212080" cy="3291840"/>
          </a:xfrm>
          <a:prstGeom prst="roundRect">
            <a:avLst>
              <a:gd name="adj" fmla="val 3333"/>
            </a:avLst>
          </a:prstGeom>
          <a:solidFill>
            <a:srgbClr val="EFE7D8"/>
          </a:solidFill>
          <a:ln/>
        </p:spPr>
      </p:sp>
      <p:sp>
        <p:nvSpPr>
          <p:cNvPr id="6" name="Text 4"/>
          <p:cNvSpPr/>
          <p:nvPr/>
        </p:nvSpPr>
        <p:spPr>
          <a:xfrm>
            <a:off x="882396" y="2468880"/>
            <a:ext cx="4846320" cy="365760"/>
          </a:xfrm>
          <a:prstGeom prst="rect">
            <a:avLst/>
          </a:prstGeom>
          <a:noFill/>
          <a:ln/>
        </p:spPr>
        <p:txBody>
          <a:bodyPr wrap="square" rtlCol="0" anchor="ctr"/>
          <a:lstStyle/>
          <a:p>
            <a:pPr algn="ctr" indent="0" marL="0">
              <a:buNone/>
            </a:pPr>
            <a:r>
              <a:rPr lang="en-US" sz="1100" b="1" spc="500" kern="0" dirty="0">
                <a:solidFill>
                  <a:srgbClr val="C44536"/>
                </a:solidFill>
                <a:latin typeface="Cambria" pitchFamily="34" charset="0"/>
                <a:ea typeface="Cambria" pitchFamily="34" charset="-122"/>
                <a:cs typeface="Cambria" pitchFamily="34" charset="-120"/>
              </a:rPr>
              <a:t>WHAT IT DOES</a:t>
            </a:r>
            <a:endParaRPr lang="en-US" sz="1100" dirty="0"/>
          </a:p>
        </p:txBody>
      </p:sp>
      <p:sp>
        <p:nvSpPr>
          <p:cNvPr id="7" name="Text 5"/>
          <p:cNvSpPr/>
          <p:nvPr/>
        </p:nvSpPr>
        <p:spPr>
          <a:xfrm>
            <a:off x="973836" y="3017520"/>
            <a:ext cx="4663440" cy="640080"/>
          </a:xfrm>
          <a:prstGeom prst="rect">
            <a:avLst/>
          </a:prstGeom>
          <a:noFill/>
          <a:ln/>
        </p:spPr>
        <p:txBody>
          <a:bodyPr wrap="square" rtlCol="0" anchor="ctr"/>
          <a:lstStyle/>
          <a:p>
            <a:pPr algn="ctr" indent="0" marL="0">
              <a:buNone/>
            </a:pPr>
            <a:r>
              <a:rPr lang="en-US" sz="1700" b="1" dirty="0">
                <a:solidFill>
                  <a:srgbClr val="1A1A1A"/>
                </a:solidFill>
                <a:latin typeface="Cambria" pitchFamily="34" charset="0"/>
                <a:ea typeface="Cambria" pitchFamily="34" charset="-122"/>
                <a:cs typeface="Cambria" pitchFamily="34" charset="-120"/>
              </a:rPr>
              <a:t>Aggregate becomes personal.</a:t>
            </a:r>
            <a:endParaRPr lang="en-US" sz="1700" dirty="0"/>
          </a:p>
        </p:txBody>
      </p:sp>
      <p:sp>
        <p:nvSpPr>
          <p:cNvPr id="8" name="Text 6"/>
          <p:cNvSpPr/>
          <p:nvPr/>
        </p:nvSpPr>
        <p:spPr>
          <a:xfrm>
            <a:off x="973836" y="3886200"/>
            <a:ext cx="4663440" cy="1463040"/>
          </a:xfrm>
          <a:prstGeom prst="rect">
            <a:avLst/>
          </a:prstGeom>
          <a:noFill/>
          <a:ln/>
        </p:spPr>
        <p:txBody>
          <a:bodyPr wrap="square" rtlCol="0" anchor="t"/>
          <a:lstStyle/>
          <a:p>
            <a:pPr algn="l" indent="0" marL="0">
              <a:buNone/>
            </a:pPr>
            <a:r>
              <a:rPr lang="en-US" sz="1300" dirty="0">
                <a:solidFill>
                  <a:srgbClr val="1A1A1A"/>
                </a:solidFill>
                <a:latin typeface="Cambria" pitchFamily="34" charset="0"/>
                <a:ea typeface="Cambria" pitchFamily="34" charset="-122"/>
                <a:cs typeface="Cambria" pitchFamily="34" charset="-120"/>
              </a:rPr>
              <a:t>Vanilla JS + D3.js.  Three inputs: start year, comparator country, optional salary.  Outputs: a € figure, an SVG trajectory, and concrete units (Vespas, pizzas, months of rent).</a:t>
            </a:r>
            <a:endParaRPr lang="en-US" sz="1300" dirty="0"/>
          </a:p>
        </p:txBody>
      </p:sp>
      <p:sp>
        <p:nvSpPr>
          <p:cNvPr id="9" name="Shape 7"/>
          <p:cNvSpPr/>
          <p:nvPr/>
        </p:nvSpPr>
        <p:spPr>
          <a:xfrm>
            <a:off x="6277356" y="2194560"/>
            <a:ext cx="5212080" cy="3291840"/>
          </a:xfrm>
          <a:prstGeom prst="roundRect">
            <a:avLst>
              <a:gd name="adj" fmla="val 3333"/>
            </a:avLst>
          </a:prstGeom>
          <a:solidFill>
            <a:srgbClr val="EFE7D8"/>
          </a:solidFill>
          <a:ln/>
        </p:spPr>
      </p:sp>
      <p:sp>
        <p:nvSpPr>
          <p:cNvPr id="10" name="Text 8"/>
          <p:cNvSpPr/>
          <p:nvPr/>
        </p:nvSpPr>
        <p:spPr>
          <a:xfrm>
            <a:off x="6460236" y="2468880"/>
            <a:ext cx="4846320" cy="365760"/>
          </a:xfrm>
          <a:prstGeom prst="rect">
            <a:avLst/>
          </a:prstGeom>
          <a:noFill/>
          <a:ln/>
        </p:spPr>
        <p:txBody>
          <a:bodyPr wrap="square" rtlCol="0" anchor="ctr"/>
          <a:lstStyle/>
          <a:p>
            <a:pPr algn="ctr" indent="0" marL="0">
              <a:buNone/>
            </a:pPr>
            <a:r>
              <a:rPr lang="en-US" sz="1100" b="1" spc="500" kern="0" dirty="0">
                <a:solidFill>
                  <a:srgbClr val="C44536"/>
                </a:solidFill>
                <a:latin typeface="Cambria" pitchFamily="34" charset="0"/>
                <a:ea typeface="Cambria" pitchFamily="34" charset="-122"/>
                <a:cs typeface="Cambria" pitchFamily="34" charset="-120"/>
              </a:rPr>
              <a:t>THE CROSS-LINK  (T1 → T5)</a:t>
            </a:r>
            <a:endParaRPr lang="en-US" sz="1100" dirty="0"/>
          </a:p>
        </p:txBody>
      </p:sp>
      <p:sp>
        <p:nvSpPr>
          <p:cNvPr id="11" name="Text 9"/>
          <p:cNvSpPr/>
          <p:nvPr/>
        </p:nvSpPr>
        <p:spPr>
          <a:xfrm>
            <a:off x="6551676" y="3017520"/>
            <a:ext cx="4663440" cy="640080"/>
          </a:xfrm>
          <a:prstGeom prst="rect">
            <a:avLst/>
          </a:prstGeom>
          <a:noFill/>
          <a:ln/>
        </p:spPr>
        <p:txBody>
          <a:bodyPr wrap="square" rtlCol="0" anchor="ctr"/>
          <a:lstStyle/>
          <a:p>
            <a:pPr algn="ctr" indent="0" marL="0">
              <a:buNone/>
            </a:pPr>
            <a:r>
              <a:rPr lang="en-US" sz="1700" b="1" dirty="0">
                <a:solidFill>
                  <a:srgbClr val="1A1A1A"/>
                </a:solidFill>
                <a:latin typeface="Cambria" pitchFamily="34" charset="0"/>
                <a:ea typeface="Cambria" pitchFamily="34" charset="-122"/>
                <a:cs typeface="Cambria" pitchFamily="34" charset="-120"/>
              </a:rPr>
              <a:t>Click a country, the calculator updates.</a:t>
            </a:r>
            <a:endParaRPr lang="en-US" sz="1700" dirty="0"/>
          </a:p>
        </p:txBody>
      </p:sp>
      <p:sp>
        <p:nvSpPr>
          <p:cNvPr id="12" name="Text 10"/>
          <p:cNvSpPr/>
          <p:nvPr/>
        </p:nvSpPr>
        <p:spPr>
          <a:xfrm>
            <a:off x="6551676" y="3886200"/>
            <a:ext cx="4663440" cy="1463040"/>
          </a:xfrm>
          <a:prstGeom prst="rect">
            <a:avLst/>
          </a:prstGeom>
          <a:noFill/>
          <a:ln/>
        </p:spPr>
        <p:txBody>
          <a:bodyPr wrap="square" rtlCol="0" anchor="t"/>
          <a:lstStyle/>
          <a:p>
            <a:pPr algn="l" indent="0" marL="0">
              <a:buNone/>
            </a:pPr>
            <a:r>
              <a:rPr lang="en-US" sz="1300" dirty="0">
                <a:solidFill>
                  <a:srgbClr val="1A1A1A"/>
                </a:solidFill>
                <a:latin typeface="Cambria" pitchFamily="34" charset="0"/>
                <a:ea typeface="Cambria" pitchFamily="34" charset="-122"/>
                <a:cs typeface="Cambria" pitchFamily="34" charset="-120"/>
              </a:rPr>
              <a:t>T1 sends a postMessage on click; T5 receives it, swaps the comparator, re-runs, and the page scrolls.  This is what makes four charts "interactive and linked" per the brief.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C"/>
        </a:solidFill>
      </p:bgPr>
    </p:bg>
    <p:spTree>
      <p:nvGrpSpPr>
        <p:cNvPr id="1" name=""/>
        <p:cNvGrpSpPr/>
        <p:nvPr/>
      </p:nvGrpSpPr>
      <p:grpSpPr>
        <a:xfrm>
          <a:off x="0" y="0"/>
          <a:ext cx="0" cy="0"/>
          <a:chOff x="0" y="0"/>
          <a:chExt cx="0" cy="0"/>
        </a:xfrm>
      </p:grpSpPr>
      <p:sp>
        <p:nvSpPr>
          <p:cNvPr id="2" name="Text 0"/>
          <p:cNvSpPr/>
          <p:nvPr/>
        </p:nvSpPr>
        <p:spPr>
          <a:xfrm>
            <a:off x="457200" y="6446520"/>
            <a:ext cx="11274552" cy="274320"/>
          </a:xfrm>
          <a:prstGeom prst="rect">
            <a:avLst/>
          </a:prstGeom>
          <a:noFill/>
          <a:ln/>
        </p:spPr>
        <p:txBody>
          <a:bodyPr wrap="square" rtlCol="0" anchor="ctr"/>
          <a:lstStyle/>
          <a:p>
            <a:pPr algn="ctr" indent="0" marL="0">
              <a:buNone/>
            </a:pPr>
            <a:r>
              <a:rPr lang="en-US" sz="900" i="1" dirty="0">
                <a:solidFill>
                  <a:srgbClr val="666666"/>
                </a:solidFill>
                <a:latin typeface="Cambria" pitchFamily="34" charset="0"/>
                <a:ea typeface="Cambria" pitchFamily="34" charset="-122"/>
                <a:cs typeface="Cambria" pitchFamily="34" charset="-120"/>
              </a:rPr>
              <a:t>The Italian Stagnation</a:t>
            </a:r>
            <a:pPr algn="ctr" indent="0" marL="0">
              <a:buNone/>
            </a:pPr>
            <a:r>
              <a:rPr lang="en-US" sz="900" dirty="0">
                <a:solidFill>
                  <a:srgbClr val="666666"/>
                </a:solidFill>
                <a:latin typeface="Cambria" pitchFamily="34" charset="0"/>
                <a:ea typeface="Cambria" pitchFamily="34" charset="-122"/>
                <a:cs typeface="Cambria" pitchFamily="34" charset="-120"/>
              </a:rPr>
              <a:t>  ·  </a:t>
            </a:r>
            <a:pPr algn="ctr" indent="0" marL="0">
              <a:buNone/>
            </a:pPr>
            <a:r>
              <a:rPr lang="en-US" sz="900" dirty="0">
                <a:solidFill>
                  <a:srgbClr val="666666"/>
                </a:solidFill>
                <a:latin typeface="Cambria" pitchFamily="34" charset="0"/>
                <a:ea typeface="Cambria" pitchFamily="34" charset="-122"/>
                <a:cs typeface="Cambria" pitchFamily="34" charset="-120"/>
              </a:rPr>
              <a:t>7 / 7</a:t>
            </a:r>
            <a:endParaRPr lang="en-US" sz="900" dirty="0"/>
          </a:p>
        </p:txBody>
      </p:sp>
      <p:sp>
        <p:nvSpPr>
          <p:cNvPr id="3" name="Text 1"/>
          <p:cNvSpPr/>
          <p:nvPr/>
        </p:nvSpPr>
        <p:spPr>
          <a:xfrm>
            <a:off x="548640" y="365760"/>
            <a:ext cx="11091672" cy="731520"/>
          </a:xfrm>
          <a:prstGeom prst="rect">
            <a:avLst/>
          </a:prstGeom>
          <a:noFill/>
          <a:ln/>
        </p:spPr>
        <p:txBody>
          <a:bodyPr wrap="square" rtlCol="0" anchor="ctr"/>
          <a:lstStyle/>
          <a:p>
            <a:pPr algn="ctr" indent="0" marL="0">
              <a:buNone/>
            </a:pPr>
            <a:r>
              <a:rPr lang="en-US" sz="2800" b="1" dirty="0">
                <a:solidFill>
                  <a:srgbClr val="1A1A1A"/>
                </a:solidFill>
                <a:latin typeface="Cambria" pitchFamily="34" charset="0"/>
                <a:ea typeface="Cambria" pitchFamily="34" charset="-122"/>
                <a:cs typeface="Cambria" pitchFamily="34" charset="-120"/>
              </a:rPr>
              <a:t>In closing</a:t>
            </a:r>
            <a:endParaRPr lang="en-US" sz="2800" dirty="0"/>
          </a:p>
        </p:txBody>
      </p:sp>
      <p:sp>
        <p:nvSpPr>
          <p:cNvPr id="4" name="Shape 2"/>
          <p:cNvSpPr/>
          <p:nvPr/>
        </p:nvSpPr>
        <p:spPr>
          <a:xfrm>
            <a:off x="699516" y="1554480"/>
            <a:ext cx="5212080" cy="3291840"/>
          </a:xfrm>
          <a:prstGeom prst="roundRect">
            <a:avLst>
              <a:gd name="adj" fmla="val 3333"/>
            </a:avLst>
          </a:prstGeom>
          <a:solidFill>
            <a:srgbClr val="EFE7D8"/>
          </a:solidFill>
          <a:ln/>
        </p:spPr>
      </p:sp>
      <p:sp>
        <p:nvSpPr>
          <p:cNvPr id="5" name="Text 3"/>
          <p:cNvSpPr/>
          <p:nvPr/>
        </p:nvSpPr>
        <p:spPr>
          <a:xfrm>
            <a:off x="882396" y="1828800"/>
            <a:ext cx="4846320" cy="365760"/>
          </a:xfrm>
          <a:prstGeom prst="rect">
            <a:avLst/>
          </a:prstGeom>
          <a:noFill/>
          <a:ln/>
        </p:spPr>
        <p:txBody>
          <a:bodyPr wrap="square" rtlCol="0" anchor="ctr"/>
          <a:lstStyle/>
          <a:p>
            <a:pPr algn="ctr" indent="0" marL="0">
              <a:buNone/>
            </a:pPr>
            <a:r>
              <a:rPr lang="en-US" sz="1100" b="1" spc="500" kern="0" dirty="0">
                <a:solidFill>
                  <a:srgbClr val="C44536"/>
                </a:solidFill>
                <a:latin typeface="Cambria" pitchFamily="34" charset="0"/>
                <a:ea typeface="Cambria" pitchFamily="34" charset="-122"/>
                <a:cs typeface="Cambria" pitchFamily="34" charset="-120"/>
              </a:rPr>
              <a:t>WHAT WE FOUND</a:t>
            </a:r>
            <a:endParaRPr lang="en-US" sz="1100" dirty="0"/>
          </a:p>
        </p:txBody>
      </p:sp>
      <p:sp>
        <p:nvSpPr>
          <p:cNvPr id="6" name="Text 4"/>
          <p:cNvSpPr/>
          <p:nvPr/>
        </p:nvSpPr>
        <p:spPr>
          <a:xfrm>
            <a:off x="973836" y="2423160"/>
            <a:ext cx="4663440" cy="1371600"/>
          </a:xfrm>
          <a:prstGeom prst="rect">
            <a:avLst/>
          </a:prstGeom>
          <a:noFill/>
          <a:ln/>
        </p:spPr>
        <p:txBody>
          <a:bodyPr wrap="square"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For three decades, Italian real wages</a:t>
            </a:r>
            <a:endParaRPr lang="en-US" sz="1500" dirty="0"/>
          </a:p>
          <a:p>
            <a:pPr algn="ctr" indent="0" marL="0">
              <a:buNone/>
            </a:pPr>
            <a:r>
              <a:rPr lang="en-US" sz="1500" b="1" dirty="0">
                <a:solidFill>
                  <a:srgbClr val="1A1A1A"/>
                </a:solidFill>
                <a:latin typeface="Cambria" pitchFamily="34" charset="0"/>
                <a:ea typeface="Cambria" pitchFamily="34" charset="-122"/>
                <a:cs typeface="Cambria" pitchFamily="34" charset="-120"/>
              </a:rPr>
              <a:t>have stayed flat.</a:t>
            </a:r>
            <a:endParaRPr lang="en-US" sz="1500" dirty="0"/>
          </a:p>
        </p:txBody>
      </p:sp>
      <p:sp>
        <p:nvSpPr>
          <p:cNvPr id="7" name="Text 5"/>
          <p:cNvSpPr/>
          <p:nvPr/>
        </p:nvSpPr>
        <p:spPr>
          <a:xfrm>
            <a:off x="973836" y="3840480"/>
            <a:ext cx="4663440" cy="868680"/>
          </a:xfrm>
          <a:prstGeom prst="rect">
            <a:avLst/>
          </a:prstGeom>
          <a:noFill/>
          <a:ln/>
        </p:spPr>
        <p:txBody>
          <a:bodyPr wrap="square" rtlCol="0" anchor="t"/>
          <a:lstStyle/>
          <a:p>
            <a:pPr algn="ctr" indent="0" marL="0">
              <a:buNone/>
            </a:pPr>
            <a:r>
              <a:rPr lang="en-US" sz="1200" i="1" dirty="0">
                <a:solidFill>
                  <a:srgbClr val="666666"/>
                </a:solidFill>
                <a:latin typeface="Cambria" pitchFamily="34" charset="0"/>
                <a:ea typeface="Cambria" pitchFamily="34" charset="-122"/>
                <a:cs typeface="Cambria" pitchFamily="34" charset="-120"/>
              </a:rPr>
              <a:t>Index 1995 = 100, real terms.  Italy +3%, Spain +5%, Germany +22%, France +27%, OECD +31%, Sweden +62%.  Source: OECD.</a:t>
            </a:r>
            <a:endParaRPr lang="en-US" sz="1200" dirty="0"/>
          </a:p>
        </p:txBody>
      </p:sp>
      <p:sp>
        <p:nvSpPr>
          <p:cNvPr id="8" name="Shape 6"/>
          <p:cNvSpPr/>
          <p:nvPr/>
        </p:nvSpPr>
        <p:spPr>
          <a:xfrm>
            <a:off x="6277356" y="1554480"/>
            <a:ext cx="5212080" cy="3291840"/>
          </a:xfrm>
          <a:prstGeom prst="roundRect">
            <a:avLst>
              <a:gd name="adj" fmla="val 3333"/>
            </a:avLst>
          </a:prstGeom>
          <a:solidFill>
            <a:srgbClr val="EFE7D8"/>
          </a:solidFill>
          <a:ln/>
        </p:spPr>
      </p:sp>
      <p:sp>
        <p:nvSpPr>
          <p:cNvPr id="9" name="Shape 7"/>
          <p:cNvSpPr/>
          <p:nvPr/>
        </p:nvSpPr>
        <p:spPr>
          <a:xfrm>
            <a:off x="6295644" y="1920240"/>
            <a:ext cx="64008" cy="2560320"/>
          </a:xfrm>
          <a:prstGeom prst="rect">
            <a:avLst/>
          </a:prstGeom>
          <a:solidFill>
            <a:srgbClr val="C44536"/>
          </a:solidFill>
          <a:ln/>
        </p:spPr>
      </p:sp>
      <p:sp>
        <p:nvSpPr>
          <p:cNvPr id="10" name="Text 8"/>
          <p:cNvSpPr/>
          <p:nvPr/>
        </p:nvSpPr>
        <p:spPr>
          <a:xfrm>
            <a:off x="6460236" y="1828800"/>
            <a:ext cx="4846320" cy="365760"/>
          </a:xfrm>
          <a:prstGeom prst="rect">
            <a:avLst/>
          </a:prstGeom>
          <a:noFill/>
          <a:ln/>
        </p:spPr>
        <p:txBody>
          <a:bodyPr wrap="square" rtlCol="0" anchor="ctr"/>
          <a:lstStyle/>
          <a:p>
            <a:pPr algn="ctr" indent="0" marL="0">
              <a:buNone/>
            </a:pPr>
            <a:r>
              <a:rPr lang="en-US" sz="1100" b="1" spc="500" kern="0" dirty="0">
                <a:solidFill>
                  <a:srgbClr val="C44536"/>
                </a:solidFill>
                <a:latin typeface="Cambria" pitchFamily="34" charset="0"/>
                <a:ea typeface="Cambria" pitchFamily="34" charset="-122"/>
                <a:cs typeface="Cambria" pitchFamily="34" charset="-120"/>
              </a:rPr>
              <a:t>WHAT WE DON'T CLAIM</a:t>
            </a:r>
            <a:endParaRPr lang="en-US" sz="1100" dirty="0"/>
          </a:p>
        </p:txBody>
      </p:sp>
      <p:sp>
        <p:nvSpPr>
          <p:cNvPr id="11" name="Text 9"/>
          <p:cNvSpPr/>
          <p:nvPr/>
        </p:nvSpPr>
        <p:spPr>
          <a:xfrm>
            <a:off x="6551676" y="2423160"/>
            <a:ext cx="4663440" cy="1371600"/>
          </a:xfrm>
          <a:prstGeom prst="rect">
            <a:avLst/>
          </a:prstGeom>
          <a:noFill/>
          <a:ln/>
        </p:spPr>
        <p:txBody>
          <a:bodyPr wrap="square" rtlCol="0" anchor="ctr"/>
          <a:lstStyle/>
          <a:p>
            <a:pPr algn="ctr" indent="0" marL="0">
              <a:buNone/>
            </a:pPr>
            <a:r>
              <a:rPr lang="en-US" sz="1500" b="1" dirty="0">
                <a:solidFill>
                  <a:srgbClr val="C44536"/>
                </a:solidFill>
                <a:latin typeface="Cambria" pitchFamily="34" charset="0"/>
                <a:ea typeface="Cambria" pitchFamily="34" charset="-122"/>
                <a:cs typeface="Cambria" pitchFamily="34" charset="-120"/>
              </a:rPr>
              <a:t>We document correlations, not causes.</a:t>
            </a:r>
            <a:endParaRPr lang="en-US" sz="1500" dirty="0"/>
          </a:p>
        </p:txBody>
      </p:sp>
      <p:sp>
        <p:nvSpPr>
          <p:cNvPr id="12" name="Text 10"/>
          <p:cNvSpPr/>
          <p:nvPr/>
        </p:nvSpPr>
        <p:spPr>
          <a:xfrm>
            <a:off x="6551676" y="3840480"/>
            <a:ext cx="4663440" cy="868680"/>
          </a:xfrm>
          <a:prstGeom prst="rect">
            <a:avLst/>
          </a:prstGeom>
          <a:noFill/>
          <a:ln/>
        </p:spPr>
        <p:txBody>
          <a:bodyPr wrap="square" rtlCol="0" anchor="t"/>
          <a:lstStyle/>
          <a:p>
            <a:pPr algn="ctr" indent="0" marL="0">
              <a:buNone/>
            </a:pPr>
            <a:r>
              <a:rPr lang="en-US" sz="1200" i="1" dirty="0">
                <a:solidFill>
                  <a:srgbClr val="666666"/>
                </a:solidFill>
                <a:latin typeface="Cambria" pitchFamily="34" charset="0"/>
                <a:ea typeface="Cambria" pitchFamily="34" charset="-122"/>
                <a:cs typeface="Cambria" pitchFamily="34" charset="-120"/>
              </a:rPr>
              <a:t>Geopolitics, COVID, the energy shock and demographic ageing are absent from the analysis. They belong to the story; they are not in our charts.</a:t>
            </a:r>
            <a:endParaRPr lang="en-US" sz="1200" dirty="0"/>
          </a:p>
        </p:txBody>
      </p:sp>
      <p:sp>
        <p:nvSpPr>
          <p:cNvPr id="13" name="Text 11"/>
          <p:cNvSpPr/>
          <p:nvPr/>
        </p:nvSpPr>
        <p:spPr>
          <a:xfrm>
            <a:off x="548640" y="5486400"/>
            <a:ext cx="11091672" cy="548640"/>
          </a:xfrm>
          <a:prstGeom prst="rect">
            <a:avLst/>
          </a:prstGeom>
          <a:noFill/>
          <a:ln/>
        </p:spPr>
        <p:txBody>
          <a:bodyPr wrap="square" rtlCol="0" anchor="ctr"/>
          <a:lstStyle/>
          <a:p>
            <a:pPr algn="ctr" indent="0" marL="0">
              <a:buNone/>
            </a:pPr>
            <a:r>
              <a:rPr lang="en-US" sz="2600" b="1" i="1" dirty="0">
                <a:solidFill>
                  <a:srgbClr val="C44536"/>
                </a:solidFill>
                <a:latin typeface="Cambria" pitchFamily="34" charset="0"/>
                <a:ea typeface="Cambria" pitchFamily="34" charset="-122"/>
                <a:cs typeface="Cambria" pitchFamily="34" charset="-120"/>
              </a:rPr>
              <a:t>Thank you.   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LUISS Guido Carli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Italian Stagnation</dc:title>
  <dc:subject>PptxGenJS Presentation</dc:subject>
  <dc:creator>Riva · Nannucci · Giovanardi</dc:creator>
  <cp:lastModifiedBy>Riva · Nannucci · Giovanardi</cp:lastModifiedBy>
  <cp:revision>1</cp:revision>
  <dcterms:created xsi:type="dcterms:W3CDTF">2026-05-10T15:30:37Z</dcterms:created>
  <dcterms:modified xsi:type="dcterms:W3CDTF">2026-05-10T15:30:37Z</dcterms:modified>
</cp:coreProperties>
</file>